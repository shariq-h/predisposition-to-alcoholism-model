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7"/>
  </p:notesMasterIdLst>
  <p:sldIdLst>
    <p:sldId id="2775" r:id="rId5"/>
    <p:sldId id="259" r:id="rId6"/>
    <p:sldId id="2768" r:id="rId7"/>
    <p:sldId id="2769" r:id="rId8"/>
    <p:sldId id="263" r:id="rId9"/>
    <p:sldId id="268" r:id="rId10"/>
    <p:sldId id="260" r:id="rId11"/>
    <p:sldId id="2770" r:id="rId12"/>
    <p:sldId id="265" r:id="rId13"/>
    <p:sldId id="270" r:id="rId14"/>
    <p:sldId id="2771" r:id="rId15"/>
    <p:sldId id="27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8F6"/>
    <a:srgbClr val="083E81"/>
    <a:srgbClr val="336699"/>
    <a:srgbClr val="206E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8FA777-D2BB-4D15-B4CF-24FEBBD6BB69}" v="382" dt="2026-05-06T21:32:51.056"/>
    <p1510:client id="{43C4786E-2614-F84A-BA45-5D4AB8877972}" v="7932" dt="2026-05-06T22:19:25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worked on the model by meeting in person and working on it together. We split the slide content, and presented the corresponding slides we created.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61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Spaciotemporal patterns- “differences in how electrical activity is distributed across the scalp and evolves over time in response to visual stimuli”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76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DB93B-3308-477B-4002-9E0CAAA45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399BD-3CF9-6D3D-FD4D-2C96F4CB8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94ECC-37BF-0B36-A4B4-AD2A83CB3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C75E3-4FC7-EE71-83A6-E75B40337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78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Input shape: (batch, 1, 64, 256)</a:t>
            </a:r>
          </a:p>
          <a:p>
            <a:endParaRPr lang="en-US"/>
          </a:p>
          <a:p>
            <a:r>
              <a:rPr lang="en-US"/>
              <a:t>Block 1 temporal: operates along time only, independent across channel (8, 64, 256)</a:t>
            </a:r>
          </a:p>
          <a:p>
            <a:r>
              <a:rPr lang="en-US"/>
              <a:t>Block 1 </a:t>
            </a:r>
            <a:r>
              <a:rPr lang="en-US" err="1"/>
              <a:t>depthwise</a:t>
            </a:r>
            <a:r>
              <a:rPr lang="en-US"/>
              <a:t>: each of the 8 feature maps is processed independently to 2 output maps -&gt; 16 feature maps (16, 1, 256)</a:t>
            </a:r>
          </a:p>
          <a:p>
            <a:endParaRPr lang="en-US"/>
          </a:p>
          <a:p>
            <a:r>
              <a:rPr lang="en-US"/>
              <a:t>ELU activation keeps strong signals, suppresses weak signals</a:t>
            </a:r>
          </a:p>
          <a:p>
            <a:r>
              <a:rPr lang="en-US"/>
              <a:t>, avg pool reduces time 256 -&gt; 64, (16, 1, 64)</a:t>
            </a:r>
          </a:p>
          <a:p>
            <a:r>
              <a:rPr lang="en-US"/>
              <a:t>dropout does regularization randomly zeros out some activations</a:t>
            </a:r>
          </a:p>
          <a:p>
            <a:endParaRPr lang="en-US"/>
          </a:p>
          <a:p>
            <a:r>
              <a:rPr lang="en-US"/>
              <a:t>Block 2</a:t>
            </a:r>
          </a:p>
          <a:p>
            <a:r>
              <a:rPr lang="en-US" err="1"/>
              <a:t>Depthwise</a:t>
            </a:r>
            <a:r>
              <a:rPr lang="en-US"/>
              <a:t> temporal conv (16, 1, 64)</a:t>
            </a:r>
          </a:p>
          <a:p>
            <a:r>
              <a:rPr lang="en-US"/>
              <a:t>Each feature map is processed independently again, learns longer temporal dependencies</a:t>
            </a:r>
          </a:p>
          <a:p>
            <a:r>
              <a:rPr lang="en-US"/>
              <a:t>Then pointwise conv combines independently processed features for cross feature interaction</a:t>
            </a:r>
          </a:p>
          <a:p>
            <a:r>
              <a:rPr lang="en-US"/>
              <a:t>Avg pool 1x8 -&gt; (16, 1, 8) -&gt; flattened to 128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72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18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Alcholic</a:t>
            </a:r>
            <a:r>
              <a:rPr lang="en-US"/>
              <a:t> class has precision 80%, recall 90%</a:t>
            </a:r>
          </a:p>
          <a:p>
            <a:r>
              <a:rPr lang="en-US"/>
              <a:t>Control “” 91%, 81%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61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97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D888F-CB6C-423C-A24A-B2793A2DF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70FFF-AC73-8E74-F492-AF8FC67D7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3EF25-5BF5-92A6-E0B9-B3150C96D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63AC6-591B-EA15-60C6-5976BD211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6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01F3F-C8A3-29E2-CBC0-2553EB59BD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Neural pathways related to alcoholism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13E83-5F99-9F90-E09D-8B7295AE5E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PRESENTED BY SHARIQ H. AND KRITHIKAA 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80011-55B5-87F5-FAF3-93A84323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F954-66B1-4168-AF40-97F3DAF43FC4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22150-D780-2AB8-7F8F-AEBB8BEBD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2EBF9-31A8-51C1-DADB-878ACE616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76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33A0-1764-3DC0-A9D7-7733B04A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524002"/>
            <a:ext cx="9198864" cy="2871216"/>
          </a:xfrm>
        </p:spPr>
        <p:txBody>
          <a:bodyPr>
            <a:normAutofit fontScale="90000"/>
          </a:bodyPr>
          <a:lstStyle/>
          <a:p>
            <a:r>
              <a:rPr lang="en-US"/>
              <a:t>“Do people with </a:t>
            </a:r>
            <a:r>
              <a:rPr lang="en-US" b="1" i="1"/>
              <a:t>alcoholism</a:t>
            </a:r>
            <a:r>
              <a:rPr lang="en-US"/>
              <a:t> exhibit distinctive </a:t>
            </a:r>
            <a:r>
              <a:rPr lang="en-US" b="1" i="1"/>
              <a:t>spatiotemporal patterns </a:t>
            </a:r>
            <a:r>
              <a:rPr lang="en-US"/>
              <a:t>that are consistent enough across trials to allow a convolutional neural network to learn a</a:t>
            </a:r>
            <a:r>
              <a:rPr lang="en-US" b="1" i="1"/>
              <a:t> reliable decision boundary </a:t>
            </a:r>
            <a:r>
              <a:rPr lang="en-US"/>
              <a:t>between alcoholic and control groups using raw electrode signals alone?”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6822A-D1D9-EA6C-D8F4-6F6AB9565D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99616" y="5376672"/>
            <a:ext cx="9198864" cy="466344"/>
          </a:xfrm>
        </p:spPr>
        <p:txBody>
          <a:bodyPr/>
          <a:lstStyle/>
          <a:p>
            <a:r>
              <a:rPr lang="en-US"/>
              <a:t>Our research question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20E4A-2DA7-367F-889E-11AF801A3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6E4F-8270-497D-A4DE-9B37A9C4BC18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0C200-7BBC-B1AA-6E27-4596490E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C8A9-3ADD-70A8-B9C7-245046BF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07652-679B-09F6-E305-D76761EE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B7F45-6760-3F6A-D276-92830CD71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background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0A35D-49BA-151A-5C57-262D5517EE7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/>
              <a:t>WHY THIS MATTERS</a:t>
            </a:r>
          </a:p>
          <a:p>
            <a:pPr>
              <a:lnSpc>
                <a:spcPct val="150000"/>
              </a:lnSpc>
            </a:pPr>
            <a:r>
              <a:rPr lang="en-US" sz="1900"/>
              <a:t>Understanding brain function in addiction</a:t>
            </a:r>
          </a:p>
          <a:p>
            <a:pPr>
              <a:lnSpc>
                <a:spcPct val="150000"/>
              </a:lnSpc>
            </a:pPr>
            <a:r>
              <a:rPr lang="en-US" sz="1900"/>
              <a:t>Reduce reliance on feature engineering</a:t>
            </a:r>
          </a:p>
          <a:p>
            <a:pPr>
              <a:lnSpc>
                <a:spcPct val="150000"/>
              </a:lnSpc>
            </a:pPr>
            <a:r>
              <a:rPr lang="en-US" sz="1900"/>
              <a:t>Possible real-time clinical applications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/>
              <a:t>COGNITIVE/NEUROSCIENCE MOTIVATIONS</a:t>
            </a:r>
          </a:p>
          <a:p>
            <a:pPr>
              <a:lnSpc>
                <a:spcPct val="150000"/>
              </a:lnSpc>
            </a:pPr>
            <a:r>
              <a:rPr lang="en-US" sz="1900"/>
              <a:t>Alcoholism alters dopaminergic pathways</a:t>
            </a:r>
          </a:p>
          <a:p>
            <a:pPr lvl="1">
              <a:lnSpc>
                <a:spcPct val="150000"/>
              </a:lnSpc>
            </a:pPr>
            <a:r>
              <a:rPr lang="en-US" sz="1700"/>
              <a:t>chronic alcohol use dysregulates the mesolimbic reward system, reducing baseline dopamine and driving compulsive seeking behavior</a:t>
            </a:r>
          </a:p>
          <a:p>
            <a:pPr>
              <a:lnSpc>
                <a:spcPct val="150000"/>
              </a:lnSpc>
            </a:pPr>
            <a:r>
              <a:rPr lang="en-US" sz="1900"/>
              <a:t>EEG captures cortical signatures of addiction</a:t>
            </a:r>
          </a:p>
          <a:p>
            <a:pPr lvl="1">
              <a:lnSpc>
                <a:spcPct val="150000"/>
              </a:lnSpc>
            </a:pPr>
            <a:r>
              <a:rPr lang="en-US" sz="1700"/>
              <a:t>alpha suppression and theta enhancement are well-documented neural biomarkers that distinguish alcoholic brains even at rest</a:t>
            </a:r>
          </a:p>
          <a:p>
            <a:pPr>
              <a:lnSpc>
                <a:spcPct val="150000"/>
              </a:lnSpc>
            </a:pPr>
            <a:r>
              <a:rPr lang="en-US" sz="1900"/>
              <a:t>Early detection has clinical value</a:t>
            </a:r>
          </a:p>
          <a:p>
            <a:pPr lvl="1">
              <a:lnSpc>
                <a:spcPct val="150000"/>
              </a:lnSpc>
            </a:pPr>
            <a:r>
              <a:rPr lang="en-US" sz="1700"/>
              <a:t>identifying neurological markers before behavioral symptoms emerge could enable earlier intervention and reduce misdiagnosis reliance on self-reporting</a:t>
            </a:r>
          </a:p>
          <a:p>
            <a:pPr>
              <a:lnSpc>
                <a:spcPct val="150000"/>
              </a:lnSpc>
            </a:pPr>
            <a:endParaRPr lang="en-US"/>
          </a:p>
          <a:p>
            <a:pPr>
              <a:lnSpc>
                <a:spcPct val="150000"/>
              </a:lnSpc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98D334-0DC2-E2A4-CBAA-343B5D509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4445-5DD2-41DC-BDE3-6A90E266904E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E6FE0-ACAD-ABE4-A958-EA2723F3E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32D00-8BF1-F264-74EA-350D94B5D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 descr="Dopaminergic pathways - Wikipedia">
            <a:extLst>
              <a:ext uri="{FF2B5EF4-FFF2-40B4-BE49-F238E27FC236}">
                <a16:creationId xmlns:a16="http://schemas.microsoft.com/office/drawing/2014/main" id="{8C540EDC-7D7A-28E2-1251-6B8BD2261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117" y="1382233"/>
            <a:ext cx="5447223" cy="409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07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E11F0-E43C-A093-9DDD-5DBFDAA73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EFB9-8C0E-C69D-707C-B86528910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The Data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8468044-0929-C736-D7CF-5C73C7D493E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8" r="7257"/>
          <a:stretch>
            <a:fillRect/>
          </a:stretch>
        </p:blipFill>
        <p:spPr>
          <a:xfrm>
            <a:off x="0" y="0"/>
            <a:ext cx="4844052" cy="639915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19532-BB2F-84CB-F39E-BA81337F1D7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/>
              <a:t>Data Source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/>
              <a:t>From </a:t>
            </a:r>
            <a:r>
              <a:rPr lang="en-US" sz="1800" b="1"/>
              <a:t>UC Irvine Machine Learning Repository</a:t>
            </a:r>
            <a:br>
              <a:rPr lang="en-US" sz="1800" b="1"/>
            </a:br>
            <a:r>
              <a:rPr lang="en-US"/>
              <a:t>Donated October 1999</a:t>
            </a:r>
            <a:endParaRPr lang="en-US" sz="1800"/>
          </a:p>
          <a:p>
            <a:pPr marL="0" indent="0">
              <a:buNone/>
            </a:pPr>
            <a:r>
              <a:rPr lang="en-US" b="1"/>
              <a:t>Dataset Info</a:t>
            </a:r>
            <a:endParaRPr lang="en-US" sz="1800" b="1"/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b="1"/>
              <a:t>122 subjects </a:t>
            </a:r>
            <a:r>
              <a:rPr lang="en-US" sz="1800"/>
              <a:t>each with </a:t>
            </a:r>
            <a:r>
              <a:rPr lang="en-US" sz="1800" b="1"/>
              <a:t>120 trials </a:t>
            </a:r>
            <a:r>
              <a:rPr lang="en-US" sz="1800"/>
              <a:t>with different stimuli shown </a:t>
            </a:r>
            <a:r>
              <a:rPr 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(3 classes: single stimulus, two matching stimulus, two unmatching stimulus)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/>
              <a:t>Measu</a:t>
            </a:r>
            <a:r>
              <a:rPr lang="en-US"/>
              <a:t>red EEG signals of </a:t>
            </a:r>
            <a:r>
              <a:rPr lang="en-US" b="1"/>
              <a:t>64 electrodes </a:t>
            </a:r>
            <a:r>
              <a:rPr lang="en-US"/>
              <a:t>sampled at 256 Hz for 1 second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b="1"/>
              <a:t>Preprocessing Steps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/>
              <a:t>Parse </a:t>
            </a:r>
            <a:r>
              <a:rPr lang="en-US"/>
              <a:t>outdated trial files into one </a:t>
            </a:r>
            <a:r>
              <a:rPr lang="en-US" b="1"/>
              <a:t>18-million-line</a:t>
            </a:r>
            <a:r>
              <a:rPr lang="en-US"/>
              <a:t> CSV</a:t>
            </a:r>
            <a:endParaRPr lang="en-US" sz="18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80ED3-20C4-52E2-CA49-D0BBD4E0C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76D00-6106-43BB-8923-18C7A7C520E4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C5BE7-A63D-DD88-C418-054041A83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A28C2-8453-7AD3-FF47-514C337B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2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62" y="275187"/>
            <a:ext cx="5821013" cy="1453896"/>
          </a:xfrm>
        </p:spPr>
        <p:txBody>
          <a:bodyPr anchor="t">
            <a:normAutofit/>
          </a:bodyPr>
          <a:lstStyle/>
          <a:p>
            <a:r>
              <a:rPr lang="en-US" b="1"/>
              <a:t>Model architecture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05E06-DEAE-0DD1-4D36-DFAC6C72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924453"/>
            <a:ext cx="2651760" cy="33832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E5A4445-5DD2-41DC-BDE3-6A90E266904E}" type="datetime1">
              <a:rPr lang="en-US" smtClean="0"/>
              <a:pPr>
                <a:spcAft>
                  <a:spcPts val="600"/>
                </a:spcAft>
              </a:pPr>
              <a:t>5/7/2026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33475" y="1527253"/>
            <a:ext cx="5585925" cy="59412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/>
              <a:t>Based of off </a:t>
            </a:r>
            <a:r>
              <a:rPr lang="en-US" sz="1600" err="1"/>
              <a:t>EEGNet</a:t>
            </a:r>
            <a:r>
              <a:rPr lang="en-US" sz="1600"/>
              <a:t> from </a:t>
            </a:r>
            <a:r>
              <a:rPr lang="en-US" sz="1600" b="1" err="1"/>
              <a:t>Lawhern</a:t>
            </a:r>
            <a:r>
              <a:rPr lang="en-US" sz="1600" b="1"/>
              <a:t> et al. (2018)</a:t>
            </a:r>
            <a:r>
              <a:rPr lang="en-US" sz="1600"/>
              <a:t>, a Convolutional neural network designed for EEG data.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600" b="1"/>
              <a:t>Input:</a:t>
            </a:r>
            <a:r>
              <a:rPr lang="en-US" sz="1600"/>
              <a:t> (1, 64 channels, 256 time samples)</a:t>
            </a:r>
            <a:endParaRPr lang="en-US" sz="1600" b="1"/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600" b="1"/>
              <a:t>Block 1 temporal conv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600"/>
              <a:t>Leans </a:t>
            </a:r>
            <a:r>
              <a:rPr lang="en-US" sz="1600" b="1"/>
              <a:t>frequency-selective patterns</a:t>
            </a:r>
            <a:r>
              <a:rPr lang="en-US" sz="1600"/>
              <a:t>; picks up </a:t>
            </a:r>
            <a:r>
              <a:rPr lang="en-US" sz="1600" b="1"/>
              <a:t>EEG rhythms </a:t>
            </a:r>
            <a:r>
              <a:rPr lang="en-US" sz="1600"/>
              <a:t>(delta, theta, alpha, beta)</a:t>
            </a:r>
            <a:endParaRPr lang="en-US" sz="1600" b="1"/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600" b="1"/>
              <a:t>Block 1 spatial conv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600"/>
              <a:t>Leans which </a:t>
            </a:r>
            <a:r>
              <a:rPr lang="en-US" sz="1600" b="1"/>
              <a:t>electrode combinations </a:t>
            </a:r>
            <a:r>
              <a:rPr lang="en-US" sz="1600"/>
              <a:t>relate to which </a:t>
            </a:r>
            <a:r>
              <a:rPr lang="en-US" sz="1600" b="1"/>
              <a:t>brain regions</a:t>
            </a:r>
            <a:r>
              <a:rPr lang="en-US" sz="1600"/>
              <a:t>; i.e. which electrodes fire together</a:t>
            </a:r>
            <a:endParaRPr lang="en-US" sz="1600" b="1"/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600" b="1"/>
              <a:t>Block 2 separable conv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600"/>
              <a:t>Combines the temporal summary and frequency patterns to get </a:t>
            </a:r>
            <a:r>
              <a:rPr lang="en-US" sz="1600" b="1"/>
              <a:t>combined spatiotemporal pattens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F804B-D6FC-83A9-36FC-E721C009E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922737"/>
            <a:ext cx="2662834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FE3EB-673E-77EF-2980-BA6EC57A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922737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23CDE0-F188-475B-D24A-BB5314585DDC}"/>
              </a:ext>
            </a:extLst>
          </p:cNvPr>
          <p:cNvSpPr/>
          <p:nvPr/>
        </p:nvSpPr>
        <p:spPr>
          <a:xfrm>
            <a:off x="1733829" y="1208144"/>
            <a:ext cx="2567901" cy="46430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>
                <a:solidFill>
                  <a:schemeClr val="tx1">
                    <a:lumMod val="25000"/>
                    <a:lumOff val="75000"/>
                  </a:schemeClr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Input trial</a:t>
            </a:r>
            <a:endParaRPr lang="en-US" sz="800">
              <a:solidFill>
                <a:schemeClr val="tx1">
                  <a:lumMod val="25000"/>
                  <a:lumOff val="75000"/>
                </a:schemeClr>
              </a:solidFill>
              <a:latin typeface="Segoe UI" panose="020B0502040204020203" pitchFamily="34" charset="0"/>
              <a:ea typeface="Gadug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800">
                <a:solidFill>
                  <a:schemeClr val="tx1">
                    <a:lumMod val="25000"/>
                    <a:lumOff val="75000"/>
                  </a:schemeClr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(batch, 1, 64 channels, 256 samples)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40D6F6-A152-4144-4464-859608F8F738}"/>
              </a:ext>
            </a:extLst>
          </p:cNvPr>
          <p:cNvSpPr/>
          <p:nvPr/>
        </p:nvSpPr>
        <p:spPr>
          <a:xfrm>
            <a:off x="1564057" y="2094908"/>
            <a:ext cx="2894235" cy="410902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Temporal conv</a:t>
            </a:r>
          </a:p>
          <a:p>
            <a:pPr algn="ctr">
              <a:lnSpc>
                <a:spcPct val="150000"/>
              </a:lnSpc>
            </a:pPr>
            <a:r>
              <a:rPr lang="en-US" sz="800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Conv2d(1-&gt;8, 64 channels, 256 samples)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254CEC-7739-227E-A836-99A4E568BA3D}"/>
              </a:ext>
            </a:extLst>
          </p:cNvPr>
          <p:cNvSpPr/>
          <p:nvPr/>
        </p:nvSpPr>
        <p:spPr>
          <a:xfrm>
            <a:off x="1564056" y="2639104"/>
            <a:ext cx="2894235" cy="410902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err="1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Depthwise</a:t>
            </a:r>
            <a:r>
              <a:rPr lang="en-US" sz="1200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 spatial conv</a:t>
            </a:r>
          </a:p>
          <a:p>
            <a:pPr algn="ctr">
              <a:lnSpc>
                <a:spcPct val="150000"/>
              </a:lnSpc>
            </a:pPr>
            <a:r>
              <a:rPr lang="en-US" sz="800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Conv2d(8-&gt;16, 64-&gt;1 channels, 256 samples)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05C233-0C95-73FA-0F6E-43653A06E39A}"/>
              </a:ext>
            </a:extLst>
          </p:cNvPr>
          <p:cNvSpPr/>
          <p:nvPr/>
        </p:nvSpPr>
        <p:spPr>
          <a:xfrm>
            <a:off x="1564055" y="3203330"/>
            <a:ext cx="2894235" cy="41090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ELU, </a:t>
            </a:r>
            <a:r>
              <a:rPr lang="en-US" sz="1200" err="1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AvgPool</a:t>
            </a:r>
            <a:r>
              <a:rPr lang="en-US" sz="1200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(1x4), Dropout</a:t>
            </a:r>
          </a:p>
          <a:p>
            <a:pPr algn="ctr">
              <a:lnSpc>
                <a:spcPct val="150000"/>
              </a:lnSpc>
            </a:pPr>
            <a:r>
              <a:rPr lang="en-US" sz="800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(16, 1 channels, 64 samples)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76A0CC9-AE0C-4299-46B2-6DF467569439}"/>
              </a:ext>
            </a:extLst>
          </p:cNvPr>
          <p:cNvSpPr/>
          <p:nvPr/>
        </p:nvSpPr>
        <p:spPr>
          <a:xfrm>
            <a:off x="1564057" y="4154985"/>
            <a:ext cx="2894235" cy="41090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err="1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Depthwise</a:t>
            </a:r>
            <a:r>
              <a:rPr lang="en-US" sz="1200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 temporal conv</a:t>
            </a:r>
          </a:p>
          <a:p>
            <a:pPr algn="ctr">
              <a:lnSpc>
                <a:spcPct val="150000"/>
              </a:lnSpc>
            </a:pPr>
            <a:r>
              <a:rPr lang="en-US" sz="800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Conv2d(16, 1 channels, 64 samples)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44EA53-9F8B-5B49-2FB7-7ED4452ACB64}"/>
              </a:ext>
            </a:extLst>
          </p:cNvPr>
          <p:cNvSpPr/>
          <p:nvPr/>
        </p:nvSpPr>
        <p:spPr>
          <a:xfrm>
            <a:off x="1564056" y="4699181"/>
            <a:ext cx="2894235" cy="41090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Pointwise conv</a:t>
            </a:r>
          </a:p>
          <a:p>
            <a:pPr algn="ctr">
              <a:lnSpc>
                <a:spcPct val="150000"/>
              </a:lnSpc>
            </a:pPr>
            <a:r>
              <a:rPr lang="en-US" sz="800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Conv2d(16, 1 channels, 64 samples)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46562B-CBC7-2721-16D2-FCEDF6B0B869}"/>
              </a:ext>
            </a:extLst>
          </p:cNvPr>
          <p:cNvSpPr/>
          <p:nvPr/>
        </p:nvSpPr>
        <p:spPr>
          <a:xfrm>
            <a:off x="1564055" y="5263407"/>
            <a:ext cx="2894235" cy="41090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ELU, </a:t>
            </a:r>
            <a:r>
              <a:rPr lang="en-US" sz="1200" err="1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AvgPool</a:t>
            </a:r>
            <a:r>
              <a:rPr lang="en-US" sz="1200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(1x8), Dropout</a:t>
            </a:r>
          </a:p>
          <a:p>
            <a:pPr algn="ctr">
              <a:lnSpc>
                <a:spcPct val="150000"/>
              </a:lnSpc>
            </a:pPr>
            <a:r>
              <a:rPr lang="en-US" sz="800">
                <a:solidFill>
                  <a:schemeClr val="bg2"/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Conv2d(16, 1 channels, 64-&gt;8 samples)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01C5387-2D3F-A9E7-644A-76047236AD2B}"/>
              </a:ext>
            </a:extLst>
          </p:cNvPr>
          <p:cNvSpPr/>
          <p:nvPr/>
        </p:nvSpPr>
        <p:spPr>
          <a:xfrm>
            <a:off x="1417320" y="1805745"/>
            <a:ext cx="3223260" cy="1951349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  <a:prstDash val="sysDash"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Block 1- temporal &amp; spatial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2F3465-6CF9-BFD3-0516-66A66B4941BF}"/>
              </a:ext>
            </a:extLst>
          </p:cNvPr>
          <p:cNvSpPr/>
          <p:nvPr/>
        </p:nvSpPr>
        <p:spPr>
          <a:xfrm>
            <a:off x="1417320" y="3858008"/>
            <a:ext cx="3223260" cy="1951348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  <a:prstDash val="sysDash"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Block 2- separable conv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B3947C-D234-3D3D-FFC4-85A279C51CB4}"/>
              </a:ext>
            </a:extLst>
          </p:cNvPr>
          <p:cNvSpPr txBox="1"/>
          <p:nvPr/>
        </p:nvSpPr>
        <p:spPr>
          <a:xfrm>
            <a:off x="733015" y="2131082"/>
            <a:ext cx="6655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frequency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patterns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F52307-EB99-7785-CBE4-849FA89757F8}"/>
              </a:ext>
            </a:extLst>
          </p:cNvPr>
          <p:cNvSpPr txBox="1"/>
          <p:nvPr/>
        </p:nvSpPr>
        <p:spPr>
          <a:xfrm>
            <a:off x="736301" y="2711452"/>
            <a:ext cx="6495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electrode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weighting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C18640-2963-B882-1A01-B3BF9EDD3238}"/>
              </a:ext>
            </a:extLst>
          </p:cNvPr>
          <p:cNvSpPr txBox="1"/>
          <p:nvPr/>
        </p:nvSpPr>
        <p:spPr>
          <a:xfrm>
            <a:off x="4742972" y="4191159"/>
            <a:ext cx="470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time</a:t>
            </a:r>
          </a:p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series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58589BB-703B-630B-9A1B-C79639739705}"/>
              </a:ext>
            </a:extLst>
          </p:cNvPr>
          <p:cNvSpPr/>
          <p:nvPr/>
        </p:nvSpPr>
        <p:spPr>
          <a:xfrm>
            <a:off x="2585606" y="5877366"/>
            <a:ext cx="845820" cy="38340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050">
                <a:solidFill>
                  <a:schemeClr val="tx1">
                    <a:lumMod val="25000"/>
                    <a:lumOff val="75000"/>
                  </a:schemeClr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Flatten</a:t>
            </a:r>
            <a:endParaRPr lang="en-US" sz="600">
              <a:solidFill>
                <a:schemeClr val="tx1">
                  <a:lumMod val="25000"/>
                  <a:lumOff val="75000"/>
                </a:schemeClr>
              </a:solidFill>
              <a:latin typeface="Segoe UI" panose="020B0502040204020203" pitchFamily="34" charset="0"/>
              <a:ea typeface="Gadug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600">
                <a:solidFill>
                  <a:schemeClr val="tx1">
                    <a:lumMod val="25000"/>
                    <a:lumOff val="75000"/>
                  </a:schemeClr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(batch, 128)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FBD289F-842D-D8F3-F9AE-FB8AD5C190C7}"/>
              </a:ext>
            </a:extLst>
          </p:cNvPr>
          <p:cNvSpPr/>
          <p:nvPr/>
        </p:nvSpPr>
        <p:spPr>
          <a:xfrm>
            <a:off x="1724566" y="6364209"/>
            <a:ext cx="2567901" cy="38340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050">
                <a:solidFill>
                  <a:schemeClr val="tx1">
                    <a:lumMod val="25000"/>
                    <a:lumOff val="75000"/>
                  </a:schemeClr>
                </a:solidFill>
                <a:latin typeface="Segoe U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Logits (Probabilities)</a:t>
            </a:r>
            <a:endParaRPr lang="en-US" sz="600">
              <a:solidFill>
                <a:schemeClr val="tx1">
                  <a:lumMod val="25000"/>
                  <a:lumOff val="75000"/>
                </a:schemeClr>
              </a:solidFill>
              <a:latin typeface="Segoe UI" panose="020B0502040204020203" pitchFamily="34" charset="0"/>
              <a:ea typeface="Gadug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88A5FE5-49ED-24C1-4030-2424D5CFCBED}"/>
              </a:ext>
            </a:extLst>
          </p:cNvPr>
          <p:cNvCxnSpPr>
            <a:cxnSpLocks/>
          </p:cNvCxnSpPr>
          <p:nvPr/>
        </p:nvCxnSpPr>
        <p:spPr>
          <a:xfrm>
            <a:off x="3017520" y="1721224"/>
            <a:ext cx="0" cy="337072"/>
          </a:xfrm>
          <a:prstGeom prst="straightConnector1">
            <a:avLst/>
          </a:prstGeom>
          <a:ln w="9525">
            <a:solidFill>
              <a:schemeClr val="tx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99327D-AD0B-ABEC-D890-ABFB47967EF6}"/>
              </a:ext>
            </a:extLst>
          </p:cNvPr>
          <p:cNvCxnSpPr>
            <a:cxnSpLocks/>
          </p:cNvCxnSpPr>
          <p:nvPr/>
        </p:nvCxnSpPr>
        <p:spPr>
          <a:xfrm>
            <a:off x="3017520" y="2526541"/>
            <a:ext cx="0" cy="80681"/>
          </a:xfrm>
          <a:prstGeom prst="straightConnector1">
            <a:avLst/>
          </a:prstGeom>
          <a:ln w="9525">
            <a:solidFill>
              <a:schemeClr val="tx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80BBCDE-F743-70D9-2EC3-C3C8E28F1F2B}"/>
              </a:ext>
            </a:extLst>
          </p:cNvPr>
          <p:cNvCxnSpPr>
            <a:cxnSpLocks/>
          </p:cNvCxnSpPr>
          <p:nvPr/>
        </p:nvCxnSpPr>
        <p:spPr>
          <a:xfrm>
            <a:off x="3016610" y="3101052"/>
            <a:ext cx="0" cy="80681"/>
          </a:xfrm>
          <a:prstGeom prst="straightConnector1">
            <a:avLst/>
          </a:prstGeom>
          <a:ln w="9525">
            <a:solidFill>
              <a:schemeClr val="tx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0DB3A75-F199-75E2-5740-DF1A671138AC}"/>
              </a:ext>
            </a:extLst>
          </p:cNvPr>
          <p:cNvCxnSpPr>
            <a:cxnSpLocks/>
          </p:cNvCxnSpPr>
          <p:nvPr/>
        </p:nvCxnSpPr>
        <p:spPr>
          <a:xfrm>
            <a:off x="3016610" y="3646681"/>
            <a:ext cx="0" cy="456689"/>
          </a:xfrm>
          <a:prstGeom prst="straightConnector1">
            <a:avLst/>
          </a:prstGeom>
          <a:ln w="9525">
            <a:solidFill>
              <a:schemeClr val="tx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910BAD5-2258-A3FA-4DB8-A7D215D9802E}"/>
              </a:ext>
            </a:extLst>
          </p:cNvPr>
          <p:cNvCxnSpPr>
            <a:cxnSpLocks/>
          </p:cNvCxnSpPr>
          <p:nvPr/>
        </p:nvCxnSpPr>
        <p:spPr>
          <a:xfrm>
            <a:off x="3020082" y="4590654"/>
            <a:ext cx="0" cy="80681"/>
          </a:xfrm>
          <a:prstGeom prst="straightConnector1">
            <a:avLst/>
          </a:prstGeom>
          <a:ln w="9525">
            <a:solidFill>
              <a:schemeClr val="tx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7089820-7A7B-63C9-C940-F9F0DEB00EE6}"/>
              </a:ext>
            </a:extLst>
          </p:cNvPr>
          <p:cNvCxnSpPr>
            <a:cxnSpLocks/>
          </p:cNvCxnSpPr>
          <p:nvPr/>
        </p:nvCxnSpPr>
        <p:spPr>
          <a:xfrm>
            <a:off x="3021000" y="5146437"/>
            <a:ext cx="0" cy="80681"/>
          </a:xfrm>
          <a:prstGeom prst="straightConnector1">
            <a:avLst/>
          </a:prstGeom>
          <a:ln w="9525">
            <a:solidFill>
              <a:schemeClr val="tx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2CD2186-BE9A-ACE6-B6F5-D68A6135B133}"/>
              </a:ext>
            </a:extLst>
          </p:cNvPr>
          <p:cNvCxnSpPr>
            <a:cxnSpLocks/>
          </p:cNvCxnSpPr>
          <p:nvPr/>
        </p:nvCxnSpPr>
        <p:spPr>
          <a:xfrm flipH="1">
            <a:off x="3008516" y="5713885"/>
            <a:ext cx="1947" cy="139110"/>
          </a:xfrm>
          <a:prstGeom prst="straightConnector1">
            <a:avLst/>
          </a:prstGeom>
          <a:ln w="9525">
            <a:solidFill>
              <a:schemeClr val="tx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676FD60-4C45-F150-E979-8056A17DA468}"/>
              </a:ext>
            </a:extLst>
          </p:cNvPr>
          <p:cNvSpPr/>
          <p:nvPr/>
        </p:nvSpPr>
        <p:spPr>
          <a:xfrm>
            <a:off x="6096001" y="1527253"/>
            <a:ext cx="5623400" cy="4459681"/>
          </a:xfrm>
          <a:prstGeom prst="roundRect">
            <a:avLst>
              <a:gd name="adj" fmla="val 2015"/>
            </a:avLst>
          </a:prstGeom>
          <a:solidFill>
            <a:schemeClr val="accent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3F723D2-B063-AB81-A7F7-BCC82B17536B}"/>
              </a:ext>
            </a:extLst>
          </p:cNvPr>
          <p:cNvCxnSpPr>
            <a:cxnSpLocks/>
          </p:cNvCxnSpPr>
          <p:nvPr/>
        </p:nvCxnSpPr>
        <p:spPr>
          <a:xfrm>
            <a:off x="3021146" y="6281002"/>
            <a:ext cx="0" cy="80681"/>
          </a:xfrm>
          <a:prstGeom prst="straightConnector1">
            <a:avLst/>
          </a:prstGeom>
          <a:ln w="9525">
            <a:solidFill>
              <a:schemeClr val="tx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31B8EFA-E455-5800-DAF0-819EDCA21D2E}"/>
              </a:ext>
            </a:extLst>
          </p:cNvPr>
          <p:cNvCxnSpPr>
            <a:cxnSpLocks/>
          </p:cNvCxnSpPr>
          <p:nvPr/>
        </p:nvCxnSpPr>
        <p:spPr>
          <a:xfrm>
            <a:off x="409433" y="791570"/>
            <a:ext cx="1130996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3F1AACC-FB7D-DEDE-4E80-1F6094B12BB1}"/>
              </a:ext>
            </a:extLst>
          </p:cNvPr>
          <p:cNvSpPr/>
          <p:nvPr/>
        </p:nvSpPr>
        <p:spPr>
          <a:xfrm>
            <a:off x="429766" y="1736035"/>
            <a:ext cx="7403973" cy="4598480"/>
          </a:xfrm>
          <a:prstGeom prst="roundRect">
            <a:avLst>
              <a:gd name="adj" fmla="val 2549"/>
            </a:avLst>
          </a:prstGeom>
          <a:solidFill>
            <a:schemeClr val="accent2">
              <a:alpha val="1547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2F8EAF-D9DE-9FD3-ED83-7032E7D7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-435493"/>
            <a:ext cx="8430768" cy="1842020"/>
          </a:xfrm>
        </p:spPr>
        <p:txBody>
          <a:bodyPr/>
          <a:lstStyle/>
          <a:p>
            <a:r>
              <a:rPr lang="en-US"/>
              <a:t>Learning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EA6679F-0290-515C-BB0F-947C10AC81E4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429767" y="1752601"/>
                <a:ext cx="7403974" cy="4484426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sz="2600" b="1">
                    <a:latin typeface="Al Nile" pitchFamily="2" charset="-78"/>
                    <a:cs typeface="Al Nile" pitchFamily="2" charset="-78"/>
                  </a:rPr>
                  <a:t>Loss function - </a:t>
                </a:r>
                <a:r>
                  <a:rPr lang="en-US" sz="2600" err="1">
                    <a:latin typeface="Aptos Mono" panose="020B0009020202020204" pitchFamily="49" charset="0"/>
                    <a:cs typeface="Courier New" panose="02070309020205020404" pitchFamily="49" charset="0"/>
                  </a:rPr>
                  <a:t>CrossEntropyLoss</a:t>
                </a:r>
                <a:r>
                  <a:rPr lang="en-US" sz="2600">
                    <a:latin typeface="Al Nile" pitchFamily="2" charset="-78"/>
                    <a:cs typeface="Al Nile" pitchFamily="2" charset="-78"/>
                  </a:rPr>
                  <a:t> (log loss)</a:t>
                </a:r>
              </a:p>
              <a:p>
                <a:r>
                  <a:rPr lang="en-US" sz="2200" err="1">
                    <a:latin typeface="Aptos Mono" panose="020F0502020204030204" pitchFamily="49" charset="0"/>
                    <a:cs typeface="Courier New" panose="02070309020205020404" pitchFamily="49" charset="0"/>
                  </a:rPr>
                  <a:t>CrossEntropyLoss</a:t>
                </a:r>
                <a:r>
                  <a:rPr lang="en-US" sz="2200">
                    <a:latin typeface="Al Nile" pitchFamily="2" charset="-78"/>
                    <a:cs typeface="Al Nile" pitchFamily="2" charset="-78"/>
                  </a:rPr>
                  <a:t> applies </a:t>
                </a:r>
                <a:r>
                  <a:rPr lang="en-US" sz="2200" err="1">
                    <a:latin typeface="Al Nile" pitchFamily="2" charset="-78"/>
                    <a:cs typeface="Al Nile" pitchFamily="2" charset="-78"/>
                  </a:rPr>
                  <a:t>softmax</a:t>
                </a:r>
                <a:r>
                  <a:rPr lang="en-US" sz="2200">
                    <a:latin typeface="Al Nile" pitchFamily="2" charset="-78"/>
                    <a:cs typeface="Al Nile" pitchFamily="2" charset="-78"/>
                  </a:rPr>
                  <a:t> to convert raw outputs into probabilities, then computes the negative log-likelihood of the correct class. The model penalizes confident wrong predictions:</a:t>
                </a:r>
              </a:p>
              <a:p>
                <a:r>
                  <a:rPr lang="en-US" sz="1900">
                    <a:latin typeface="Al Nile" pitchFamily="2" charset="-78"/>
                    <a:cs typeface="Al Nile" pitchFamily="2" charset="-78"/>
                  </a:rPr>
                  <a:t> 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latin typeface="Cambria Math" panose="02040503050406030204" pitchFamily="18" charset="0"/>
                        <a:cs typeface="Al Nile" pitchFamily="2" charset="-78"/>
                      </a:rPr>
                      <m:t>𝑳</m:t>
                    </m:r>
                    <m:r>
                      <a:rPr lang="en-US" sz="1900" b="1" i="1" dirty="0">
                        <a:latin typeface="Cambria Math" panose="02040503050406030204" pitchFamily="18" charset="0"/>
                        <a:cs typeface="Al Nile" pitchFamily="2" charset="-78"/>
                      </a:rPr>
                      <m:t>=</m:t>
                    </m:r>
                    <m:r>
                      <a:rPr lang="en-US" sz="1900" b="1" i="1" dirty="0" smtClean="0">
                        <a:latin typeface="Cambria Math" panose="02040503050406030204" pitchFamily="18" charset="0"/>
                        <a:cs typeface="Al Nile" pitchFamily="2" charset="-78"/>
                      </a:rPr>
                      <m:t>−</m:t>
                    </m:r>
                    <m:func>
                      <m:funcPr>
                        <m:ctrlPr>
                          <a:rPr lang="en-US" sz="1900" b="1" i="1" dirty="0">
                            <a:latin typeface="Cambria Math" panose="02040503050406030204" pitchFamily="18" charset="0"/>
                            <a:cs typeface="Al Nile" pitchFamily="2" charset="-7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900" b="0" i="0" dirty="0" smtClean="0">
                            <a:latin typeface="Cambria Math" panose="02040503050406030204" pitchFamily="18" charset="0"/>
                            <a:cs typeface="Al Nile" pitchFamily="2" charset="-78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1900" b="1" i="1" dirty="0">
                                <a:latin typeface="Cambria Math" panose="02040503050406030204" pitchFamily="18" charset="0"/>
                                <a:cs typeface="Al Nile" pitchFamily="2" charset="-78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900" b="1" i="1" dirty="0" smtClean="0">
                                    <a:latin typeface="Cambria Math" panose="02040503050406030204" pitchFamily="18" charset="0"/>
                                    <a:cs typeface="Al Nile" pitchFamily="2" charset="-78"/>
                                  </a:rPr>
                                </m:ctrlPr>
                              </m:sSubPr>
                              <m:e>
                                <m:r>
                                  <a:rPr lang="en-US" sz="1900" b="1" i="1" dirty="0">
                                    <a:latin typeface="Cambria Math" panose="02040503050406030204" pitchFamily="18" charset="0"/>
                                    <a:cs typeface="Al Nile" pitchFamily="2" charset="-78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sz="1900" b="1" i="1" dirty="0" smtClean="0">
                                    <a:latin typeface="Cambria Math" panose="02040503050406030204" pitchFamily="18" charset="0"/>
                                    <a:cs typeface="Al Nile" pitchFamily="2" charset="-78"/>
                                  </a:rPr>
                                  <m:t>𝒄𝒐𝒓𝒓𝒆𝒄𝒕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b="1">
                  <a:latin typeface="Al Nile" pitchFamily="2" charset="-78"/>
                  <a:cs typeface="Al Nile" pitchFamily="2" charset="-78"/>
                </a:endParaRPr>
              </a:p>
              <a:p>
                <a:r>
                  <a:rPr lang="en-US" sz="2600" b="1">
                    <a:latin typeface="Al Nile" pitchFamily="2" charset="-78"/>
                    <a:cs typeface="Al Nile" pitchFamily="2" charset="-78"/>
                  </a:rPr>
                  <a:t>Optimization method - </a:t>
                </a:r>
                <a:r>
                  <a:rPr lang="en-US" sz="2600">
                    <a:latin typeface="Aptos Mono" panose="020B0009020202020204" pitchFamily="49" charset="0"/>
                    <a:cs typeface="Courier New" panose="02070309020205020404" pitchFamily="49" charset="0"/>
                  </a:rPr>
                  <a:t>ADAM</a:t>
                </a:r>
              </a:p>
              <a:p>
                <a:r>
                  <a:rPr lang="en-US" sz="2200" b="1">
                    <a:latin typeface="Al Nile" pitchFamily="2" charset="-78"/>
                    <a:cs typeface="Al Nile" pitchFamily="2" charset="-78"/>
                  </a:rPr>
                  <a:t>Adaptive moment estimation </a:t>
                </a:r>
                <a:r>
                  <a:rPr lang="en-US" sz="2200">
                    <a:latin typeface="Al Nile" pitchFamily="2" charset="-78"/>
                    <a:cs typeface="Al Nile" pitchFamily="2" charset="-78"/>
                  </a:rPr>
                  <a:t>updates each parameter using its own adaptive learning rate, tracking both gradient mean(momentum) and gradient variance. More stable than SGD on noisy EEG data. To preventor reduce overfitting,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Al Nile" pitchFamily="2" charset="-78"/>
                      </a:rPr>
                      <m:t>𝑤𝑒𝑖𝑔h𝑡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cs typeface="Al Nile" pitchFamily="2" charset="-78"/>
                      </a:rPr>
                      <m:t>_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cs typeface="Al Nile" pitchFamily="2" charset="-78"/>
                      </a:rPr>
                      <m:t>𝑑𝑒𝑐𝑎𝑦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cs typeface="Al Nile" pitchFamily="2" charset="-78"/>
                      </a:rPr>
                      <m:t> = 1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cs typeface="Al Nile" pitchFamily="2" charset="-78"/>
                      </a:rPr>
                      <m:t>𝑒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cs typeface="Al Nile" pitchFamily="2" charset="-78"/>
                      </a:rPr>
                      <m:t>−4 </m:t>
                    </m:r>
                  </m:oMath>
                </a14:m>
                <a:r>
                  <a:rPr lang="en-US" sz="2200">
                    <a:latin typeface="Al Nile" pitchFamily="2" charset="-78"/>
                    <a:cs typeface="Al Nile" pitchFamily="2" charset="-78"/>
                  </a:rPr>
                  <a:t>adds L2 regularization.</a:t>
                </a:r>
                <a:endParaRPr lang="en-US" b="1">
                  <a:latin typeface="Al Nile" pitchFamily="2" charset="-78"/>
                  <a:cs typeface="Al Nile" pitchFamily="2" charset="-78"/>
                </a:endParaRPr>
              </a:p>
              <a:p>
                <a:r>
                  <a:rPr lang="en-US" sz="2600" b="1">
                    <a:latin typeface="Al Nile" pitchFamily="2" charset="-78"/>
                    <a:cs typeface="Al Nile" pitchFamily="2" charset="-78"/>
                  </a:rPr>
                  <a:t>Learning Rate - </a:t>
                </a:r>
                <a:r>
                  <a:rPr lang="en-US" sz="2600">
                    <a:latin typeface="Aptos Mono" panose="020B0009020202020204" pitchFamily="49" charset="0"/>
                    <a:cs typeface="Courier New" panose="02070309020205020404" pitchFamily="49" charset="0"/>
                  </a:rPr>
                  <a:t>Cosine Annealing Schedule</a:t>
                </a:r>
              </a:p>
              <a:p>
                <a:r>
                  <a:rPr lang="en-US" sz="2200">
                    <a:latin typeface="Al Nile" pitchFamily="2" charset="-78"/>
                    <a:cs typeface="Al Nile" pitchFamily="2" charset="-78"/>
                  </a:rPr>
                  <a:t>ADAM starts with </a:t>
                </a:r>
                <a:r>
                  <a:rPr lang="en-US" sz="2200" b="1" err="1">
                    <a:latin typeface="Al Nile" pitchFamily="2" charset="-78"/>
                    <a:cs typeface="Al Nile" pitchFamily="2" charset="-78"/>
                  </a:rPr>
                  <a:t>Ir</a:t>
                </a:r>
                <a:r>
                  <a:rPr lang="en-US" sz="2200" b="1">
                    <a:latin typeface="Al Nile" pitchFamily="2" charset="-78"/>
                    <a:cs typeface="Al Nile" pitchFamily="2" charset="-78"/>
                  </a:rPr>
                  <a:t> – 0.001(default</a:t>
                </a:r>
                <a:r>
                  <a:rPr lang="en-US" sz="2200">
                    <a:latin typeface="Al Nile" pitchFamily="2" charset="-78"/>
                    <a:cs typeface="Al Nile" pitchFamily="2" charset="-78"/>
                  </a:rPr>
                  <a:t>). Rather than keeping it fixed, a cosine annealing schedule gradually decays the learning rate toward zero across epochs</a:t>
                </a:r>
                <a:r>
                  <a:rPr lang="en-US" sz="2200" b="1">
                    <a:latin typeface="Al Nile" pitchFamily="2" charset="-78"/>
                    <a:cs typeface="Al Nile" pitchFamily="2" charset="-78"/>
                  </a:rPr>
                  <a:t>: </a:t>
                </a:r>
              </a:p>
              <a:p>
                <a:pPr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𝒍𝒓</m:t>
                    </m:r>
                    <m:d>
                      <m:dPr>
                        <m:ctrlPr>
                          <a:rPr lang="en-US" sz="22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</m:d>
                    <m:r>
                      <a:rPr lang="en-US" sz="22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200" b="1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</m:t>
                    </m:r>
                    <m:sSub>
                      <m:sSubPr>
                        <m:ctrlPr>
                          <a:rPr lang="en-US" sz="2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b="1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𝒎𝒊𝒏</m:t>
                        </m:r>
                      </m:sub>
                    </m:sSub>
                    <m:r>
                      <a:rPr lang="en-US" sz="22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sz="2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US" sz="2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200" b="1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𝒍</m:t>
                        </m:r>
                        <m:sSub>
                          <m:sSubPr>
                            <m:ctrlPr>
                              <a:rPr lang="en-US" sz="22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2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𝒎𝒂𝒙</m:t>
                            </m:r>
                          </m:sub>
                        </m:sSub>
                        <m:r>
                          <a:rPr lang="en-US" sz="22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200" b="1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𝒍</m:t>
                        </m:r>
                        <m:sSub>
                          <m:sSubPr>
                            <m:ctrlPr>
                              <a:rPr lang="en-US" sz="22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2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𝒎𝒊𝒏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sz="2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sz="22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2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𝝅</m:t>
                                </m:r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  <m:r>
                                  <m:rPr>
                                    <m:lit/>
                                  </m:rPr>
                                  <a:rPr lang="en-US" sz="22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</m:t>
                                </m:r>
                                <m:r>
                                  <a:rPr lang="en-US" sz="2200" b="1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𝑻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200" b="1" i="1">
                    <a:latin typeface="Al Nile" pitchFamily="2" charset="-78"/>
                    <a:cs typeface="Al Nile" pitchFamily="2" charset="-78"/>
                  </a:rPr>
                  <a:t>.  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2200">
                    <a:latin typeface="Al Nile" pitchFamily="2" charset="-78"/>
                    <a:cs typeface="Al Nile" pitchFamily="2" charset="-78"/>
                  </a:rPr>
                  <a:t>Early epochs uses large steps while later epochs uses smaller steps to allow Adam’s momentum to fine-tune weights into a sharp minimum. </a:t>
                </a:r>
              </a:p>
              <a:p>
                <a:endParaRPr lang="en-US" b="1">
                  <a:latin typeface="Al Nile" pitchFamily="2" charset="-78"/>
                  <a:cs typeface="Al Nile" pitchFamily="2" charset="-78"/>
                </a:endParaRPr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endParaRPr lang="en-US">
                  <a:latin typeface="Al Nile" pitchFamily="2" charset="-78"/>
                  <a:cs typeface="Al Nile" pitchFamily="2" charset="-78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EA6679F-0290-515C-BB0F-947C10AC8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429767" y="1752601"/>
                <a:ext cx="7403974" cy="4484426"/>
              </a:xfrm>
              <a:blipFill>
                <a:blip r:embed="rId3"/>
                <a:stretch>
                  <a:fillRect l="-412" t="-544" r="-658" b="-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6F15B-92C0-806D-7631-A3635A42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9AFF9-B37A-4509-BBAB-27DBFDFA26BE}" type="datetime1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3DC08D-8457-0839-8C25-A7C068F9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D8A57-68C7-1BAD-CE79-017C9801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 descr="A diagram of a learning process&#10;&#10;AI-generated content may be incorrect.">
            <a:extLst>
              <a:ext uri="{FF2B5EF4-FFF2-40B4-BE49-F238E27FC236}">
                <a16:creationId xmlns:a16="http://schemas.microsoft.com/office/drawing/2014/main" id="{67777B23-FF32-9FBD-1C2D-3E1D29D0EA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161" y="1752601"/>
            <a:ext cx="4023501" cy="231904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B56BD7-5666-9C62-303C-25EE6E43C9C4}"/>
              </a:ext>
            </a:extLst>
          </p:cNvPr>
          <p:cNvCxnSpPr/>
          <p:nvPr/>
        </p:nvCxnSpPr>
        <p:spPr>
          <a:xfrm>
            <a:off x="429767" y="1406527"/>
            <a:ext cx="112186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3893143-0CCE-6740-5111-E6FC06F08A90}"/>
              </a:ext>
            </a:extLst>
          </p:cNvPr>
          <p:cNvSpPr txBox="1"/>
          <p:nvPr/>
        </p:nvSpPr>
        <p:spPr>
          <a:xfrm>
            <a:off x="8125469" y="4558921"/>
            <a:ext cx="3751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Al Nile" pitchFamily="2" charset="-78"/>
                <a:cs typeface="Al Nile" pitchFamily="2" charset="-78"/>
              </a:rPr>
              <a:t>Train / Validation / Test Split</a:t>
            </a:r>
          </a:p>
          <a:p>
            <a:endParaRPr lang="en-US" sz="1500" b="1">
              <a:latin typeface="Al Nile" pitchFamily="2" charset="-78"/>
              <a:cs typeface="Al Nile" pitchFamily="2" charset="-78"/>
            </a:endParaRPr>
          </a:p>
          <a:p>
            <a:r>
              <a:rPr lang="en-US" sz="1500">
                <a:latin typeface="Al Nile" pitchFamily="2" charset="-78"/>
                <a:cs typeface="Al Nile" pitchFamily="2" charset="-78"/>
              </a:rPr>
              <a:t>Data split: </a:t>
            </a:r>
            <a:r>
              <a:rPr lang="en-US" sz="1500" b="1">
                <a:latin typeface="Al Nile" pitchFamily="2" charset="-78"/>
                <a:cs typeface="Al Nile" pitchFamily="2" charset="-78"/>
              </a:rPr>
              <a:t>70% / 15% / 15%</a:t>
            </a:r>
            <a:r>
              <a:rPr lang="en-US" sz="1500">
                <a:latin typeface="Al Nile" pitchFamily="2" charset="-78"/>
                <a:cs typeface="Al Nile" pitchFamily="2" charset="-78"/>
              </a:rPr>
              <a:t>, </a:t>
            </a:r>
          </a:p>
          <a:p>
            <a:r>
              <a:rPr lang="en-US" sz="1500">
                <a:latin typeface="Al Nile" pitchFamily="2" charset="-78"/>
                <a:cs typeface="Al Nile" pitchFamily="2" charset="-78"/>
              </a:rPr>
              <a:t>divided by trial not subject.</a:t>
            </a:r>
          </a:p>
          <a:p>
            <a:endParaRPr lang="en-US" sz="2000" b="1">
              <a:latin typeface="Al Nile" pitchFamily="2" charset="-78"/>
              <a:cs typeface="Al Nile" pitchFamily="2" charset="-78"/>
            </a:endParaRPr>
          </a:p>
          <a:p>
            <a:endParaRPr lang="en-US" sz="2000">
              <a:latin typeface="Al Nile" pitchFamily="2" charset="-78"/>
              <a:cs typeface="Al Nile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C48E39-E2E0-6FC5-13C8-6C8CEEA09AB4}"/>
              </a:ext>
            </a:extLst>
          </p:cNvPr>
          <p:cNvSpPr/>
          <p:nvPr/>
        </p:nvSpPr>
        <p:spPr>
          <a:xfrm>
            <a:off x="8133143" y="4412422"/>
            <a:ext cx="3545535" cy="1397000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58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67278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F81C-2BD8-A4FA-1C47-752CDA281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10118"/>
            <a:ext cx="10757528" cy="629724"/>
          </a:xfrm>
        </p:spPr>
        <p:txBody>
          <a:bodyPr>
            <a:normAutofit/>
          </a:bodyPr>
          <a:lstStyle/>
          <a:p>
            <a:r>
              <a:rPr lang="en-US" sz="3500" b="1"/>
              <a:t>Training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E3DB6-9604-119A-147D-87313E70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2E664-B024-4B15-A27C-3009EED3249B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CA12B-9FEC-9EC2-45A2-67466ADB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6535" y="6575847"/>
            <a:ext cx="2662834" cy="336141"/>
          </a:xfrm>
        </p:spPr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67AE3-F49B-E352-A529-8E3AAB9E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7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51BCE92-AF44-1D38-A1D9-7E557A20F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55" y="1007912"/>
            <a:ext cx="10229890" cy="336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09A49B-8521-14E9-F654-F7C9BB634830}"/>
              </a:ext>
            </a:extLst>
          </p:cNvPr>
          <p:cNvCxnSpPr/>
          <p:nvPr/>
        </p:nvCxnSpPr>
        <p:spPr>
          <a:xfrm>
            <a:off x="299464" y="778537"/>
            <a:ext cx="11593071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0E1E637-A146-6230-CB56-7CFB887D882A}"/>
              </a:ext>
            </a:extLst>
          </p:cNvPr>
          <p:cNvSpPr/>
          <p:nvPr/>
        </p:nvSpPr>
        <p:spPr>
          <a:xfrm>
            <a:off x="981055" y="4700589"/>
            <a:ext cx="5006386" cy="1789936"/>
          </a:xfrm>
          <a:prstGeom prst="roundRect">
            <a:avLst>
              <a:gd name="adj" fmla="val 998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7609383-2C3F-B482-2272-63593B8AE438}"/>
              </a:ext>
            </a:extLst>
          </p:cNvPr>
          <p:cNvSpPr/>
          <p:nvPr/>
        </p:nvSpPr>
        <p:spPr>
          <a:xfrm>
            <a:off x="6186644" y="4700588"/>
            <a:ext cx="5006386" cy="1789936"/>
          </a:xfrm>
          <a:prstGeom prst="roundRect">
            <a:avLst>
              <a:gd name="adj" fmla="val 998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00EBCCE-5DA7-2D4E-8093-54792E91799C}"/>
              </a:ext>
            </a:extLst>
          </p:cNvPr>
          <p:cNvSpPr txBox="1">
            <a:spLocks/>
          </p:cNvSpPr>
          <p:nvPr/>
        </p:nvSpPr>
        <p:spPr>
          <a:xfrm>
            <a:off x="6311902" y="4969428"/>
            <a:ext cx="4790486" cy="134344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Accuracy curve </a:t>
            </a:r>
          </a:p>
          <a:p>
            <a:pPr>
              <a:spcBef>
                <a:spcPts val="0"/>
              </a:spcBef>
            </a:pPr>
            <a:r>
              <a:rPr lang="en-US" sz="14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Training and Validation accuracy </a:t>
            </a:r>
            <a:r>
              <a:rPr lang="en-US" sz="1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rise</a:t>
            </a:r>
            <a:r>
              <a:rPr lang="en-US" sz="14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from ~0.58 to ~0.88 over 30 epochs</a:t>
            </a:r>
          </a:p>
          <a:p>
            <a:pPr>
              <a:spcBef>
                <a:spcPts val="0"/>
              </a:spcBef>
            </a:pPr>
            <a:r>
              <a:rPr lang="en-US" sz="14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Validation tracks closely, occasionally exceeding training accuracy, showing good generalization. </a:t>
            </a:r>
          </a:p>
          <a:p>
            <a:pPr>
              <a:spcBef>
                <a:spcPts val="0"/>
              </a:spcBef>
            </a:pPr>
            <a:endParaRPr lang="en-US" sz="140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7550717-5B9A-99BC-1804-A2B8785B3568}"/>
              </a:ext>
            </a:extLst>
          </p:cNvPr>
          <p:cNvSpPr txBox="1">
            <a:spLocks/>
          </p:cNvSpPr>
          <p:nvPr/>
        </p:nvSpPr>
        <p:spPr>
          <a:xfrm>
            <a:off x="1088443" y="4864894"/>
            <a:ext cx="4790486" cy="16623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Loss curve </a:t>
            </a:r>
          </a:p>
          <a:p>
            <a:pPr>
              <a:spcBef>
                <a:spcPts val="0"/>
              </a:spcBef>
            </a:pPr>
            <a:r>
              <a:rPr lang="en-US" sz="14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Training and Validation loss </a:t>
            </a:r>
            <a:r>
              <a:rPr lang="en-US" sz="1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decrease </a:t>
            </a:r>
            <a:r>
              <a:rPr lang="en-US" sz="14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steadily from ~0.69 to ~0.30 over 30 epochs</a:t>
            </a:r>
          </a:p>
          <a:p>
            <a:pPr>
              <a:spcBef>
                <a:spcPts val="0"/>
              </a:spcBef>
            </a:pPr>
            <a:r>
              <a:rPr lang="en-US" sz="14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Both curves stay close together indicating that the model generalizes well with </a:t>
            </a:r>
            <a:r>
              <a:rPr lang="en-US" sz="1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no significant overfitting</a:t>
            </a:r>
          </a:p>
          <a:p>
            <a:pPr>
              <a:spcBef>
                <a:spcPts val="0"/>
              </a:spcBef>
            </a:pPr>
            <a:r>
              <a:rPr lang="en-US" sz="14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Both losses are low and decrease substantially &amp; accuracies are high and close, indicating </a:t>
            </a:r>
            <a:r>
              <a:rPr lang="en-US" sz="1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no underfitting</a:t>
            </a:r>
            <a:r>
              <a:rPr lang="en-US" sz="14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.</a:t>
            </a:r>
          </a:p>
          <a:p>
            <a:pPr>
              <a:spcBef>
                <a:spcPts val="0"/>
              </a:spcBef>
            </a:pPr>
            <a:endParaRPr lang="en-US" sz="140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18CC2-B6CF-86A8-6CA4-8931C354B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8195F-F7B5-8559-1482-8AF5EAC3E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10118"/>
            <a:ext cx="10757528" cy="629724"/>
          </a:xfrm>
        </p:spPr>
        <p:txBody>
          <a:bodyPr>
            <a:normAutofit/>
          </a:bodyPr>
          <a:lstStyle/>
          <a:p>
            <a:r>
              <a:rPr lang="en-US" sz="3500" b="1"/>
              <a:t>Evaluation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ACA86-DA6D-2CAD-DB2C-4C7E11240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2E664-B024-4B15-A27C-3009EED3249B}" type="datetime1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B0090-0CB0-14FF-A5FD-2D65BEC25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B2338-CF55-A26D-6390-A5555369B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A3DD2E-C2E2-3E26-36A0-43F426A4AF9A}"/>
              </a:ext>
            </a:extLst>
          </p:cNvPr>
          <p:cNvCxnSpPr/>
          <p:nvPr/>
        </p:nvCxnSpPr>
        <p:spPr>
          <a:xfrm>
            <a:off x="283960" y="839842"/>
            <a:ext cx="1159307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Subtitle 2">
                <a:extLst>
                  <a:ext uri="{FF2B5EF4-FFF2-40B4-BE49-F238E27FC236}">
                    <a16:creationId xmlns:a16="http://schemas.microsoft.com/office/drawing/2014/main" id="{91229163-26DC-05AA-06DE-F52B1F421A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1500" y="2868543"/>
                <a:ext cx="6908388" cy="3313934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 lnSpcReduction="10000"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100" b="1">
                    <a:latin typeface="Al Nile" pitchFamily="2" charset="-78"/>
                    <a:cs typeface="Al Nile" pitchFamily="2" charset="-78"/>
                  </a:rPr>
                  <a:t>High recall: </a:t>
                </a:r>
              </a:p>
              <a:p>
                <a:r>
                  <a:rPr lang="en-US" sz="1500">
                    <a:latin typeface="Al Nile" pitchFamily="2" charset="-78"/>
                    <a:cs typeface="Al Nile" pitchFamily="2" charset="-78"/>
                  </a:rPr>
                  <a:t>The model is good at detecting actual alcoholic cases: 9 out of every 10 at risk subjects. </a:t>
                </a:r>
              </a:p>
              <a:p>
                <a:r>
                  <a:rPr lang="en-US" sz="2100" b="1">
                    <a:latin typeface="Al Nile" pitchFamily="2" charset="-78"/>
                    <a:cs typeface="Al Nile" pitchFamily="2" charset="-78"/>
                  </a:rPr>
                  <a:t>Higher FP than FN: </a:t>
                </a:r>
              </a:p>
              <a:p>
                <a:r>
                  <a:rPr lang="en-US" sz="1500">
                    <a:latin typeface="Al Nile" pitchFamily="2" charset="-78"/>
                    <a:cs typeface="Al Nile" pitchFamily="2" charset="-78"/>
                  </a:rPr>
                  <a:t>Slight bias towards false positives (predicting alcoholics) i.e. more conservative with labelling control.</a:t>
                </a:r>
              </a:p>
              <a:p>
                <a:r>
                  <a:rPr lang="en-US" sz="2100" b="1">
                    <a:latin typeface="Al Nile" pitchFamily="2" charset="-78"/>
                    <a:cs typeface="Al Nile" pitchFamily="2" charset="-78"/>
                  </a:rPr>
                  <a:t>Macro </a:t>
                </a:r>
                <a14:m>
                  <m:oMath xmlns:m="http://schemas.openxmlformats.org/officeDocument/2006/math">
                    <m:r>
                      <a:rPr lang="en-US" sz="21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100" b="1">
                    <a:latin typeface="Al Nile" pitchFamily="2" charset="-78"/>
                    <a:ea typeface="Cambria Math" panose="02040503050406030204" pitchFamily="18" charset="0"/>
                    <a:cs typeface="Al Nile" pitchFamily="2" charset="-78"/>
                  </a:rPr>
                  <a:t> Weighted: </a:t>
                </a:r>
              </a:p>
              <a:p>
                <a:r>
                  <a:rPr lang="en-US" sz="1500">
                    <a:latin typeface="Al Nile" pitchFamily="2" charset="-78"/>
                    <a:cs typeface="Al Nile" pitchFamily="2" charset="-78"/>
                  </a:rPr>
                  <a:t>The macro and weighted average are similar, indicating the dataset is fairly-balanced across and performs consistently across classes.</a:t>
                </a:r>
              </a:p>
            </p:txBody>
          </p:sp>
        </mc:Choice>
        <mc:Fallback xmlns="">
          <p:sp>
            <p:nvSpPr>
              <p:cNvPr id="9" name="Subtitle 2">
                <a:extLst>
                  <a:ext uri="{FF2B5EF4-FFF2-40B4-BE49-F238E27FC236}">
                    <a16:creationId xmlns:a16="http://schemas.microsoft.com/office/drawing/2014/main" id="{91229163-26DC-05AA-06DE-F52B1F42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2868543"/>
                <a:ext cx="6908388" cy="3313934"/>
              </a:xfrm>
              <a:prstGeom prst="rect">
                <a:avLst/>
              </a:prstGeom>
              <a:blipFill>
                <a:blip r:embed="rId3"/>
                <a:stretch>
                  <a:fillRect l="-1059" t="-1289" r="-353" b="-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3A369B29-5142-44A4-2AC5-6D464932B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406" y="4874339"/>
            <a:ext cx="3988625" cy="1532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A1C8364-ADFD-EFF9-A885-AA6DA26C5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406" y="1211577"/>
            <a:ext cx="3988625" cy="3313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D02684-8740-6D00-772C-3C38C9BCA2D3}"/>
              </a:ext>
            </a:extLst>
          </p:cNvPr>
          <p:cNvSpPr/>
          <p:nvPr/>
        </p:nvSpPr>
        <p:spPr>
          <a:xfrm>
            <a:off x="571500" y="1211579"/>
            <a:ext cx="1440180" cy="1226819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100">
                <a:solidFill>
                  <a:schemeClr val="tx1"/>
                </a:solidFill>
              </a:rPr>
              <a:t>Overall Accuracy</a:t>
            </a:r>
          </a:p>
          <a:p>
            <a:pPr algn="ctr"/>
            <a:r>
              <a:rPr lang="en-US" sz="3200" b="1">
                <a:solidFill>
                  <a:schemeClr val="tx1"/>
                </a:solidFill>
              </a:rPr>
              <a:t>85%</a:t>
            </a:r>
          </a:p>
          <a:p>
            <a:pPr algn="ctr"/>
            <a:r>
              <a:rPr lang="en-US" sz="1100">
                <a:solidFill>
                  <a:schemeClr val="tx1"/>
                </a:solidFill>
              </a:rPr>
              <a:t>Over 175 samples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DA4687-06C6-2319-13B9-B29CE0C1B084}"/>
              </a:ext>
            </a:extLst>
          </p:cNvPr>
          <p:cNvSpPr/>
          <p:nvPr/>
        </p:nvSpPr>
        <p:spPr>
          <a:xfrm>
            <a:off x="2394236" y="1211578"/>
            <a:ext cx="1440180" cy="1226819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100">
                <a:solidFill>
                  <a:schemeClr val="tx1"/>
                </a:solidFill>
              </a:rPr>
              <a:t>Macro F1 Score</a:t>
            </a:r>
            <a:endParaRPr lang="en-US" sz="1300">
              <a:solidFill>
                <a:schemeClr val="tx1"/>
              </a:solidFill>
            </a:endParaRPr>
          </a:p>
          <a:p>
            <a:pPr algn="ctr"/>
            <a:r>
              <a:rPr lang="en-US" sz="3200" b="1">
                <a:solidFill>
                  <a:schemeClr val="tx1"/>
                </a:solidFill>
              </a:rPr>
              <a:t>0.85</a:t>
            </a:r>
          </a:p>
          <a:p>
            <a:pPr algn="ctr"/>
            <a:r>
              <a:rPr lang="en-US" sz="1100">
                <a:solidFill>
                  <a:schemeClr val="tx1"/>
                </a:solidFill>
              </a:rPr>
              <a:t>Balanced classes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900207-C7F0-98AD-DB07-484E95079ADA}"/>
              </a:ext>
            </a:extLst>
          </p:cNvPr>
          <p:cNvSpPr/>
          <p:nvPr/>
        </p:nvSpPr>
        <p:spPr>
          <a:xfrm>
            <a:off x="4216972" y="1211577"/>
            <a:ext cx="1440180" cy="1226819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100">
                <a:solidFill>
                  <a:schemeClr val="tx1"/>
                </a:solidFill>
              </a:rPr>
              <a:t>Alcoholic Recall</a:t>
            </a:r>
          </a:p>
          <a:p>
            <a:pPr algn="ctr"/>
            <a:r>
              <a:rPr lang="en-US" sz="3200" b="1">
                <a:solidFill>
                  <a:schemeClr val="tx1"/>
                </a:solidFill>
              </a:rPr>
              <a:t>0.90</a:t>
            </a:r>
          </a:p>
          <a:p>
            <a:pPr algn="ctr"/>
            <a:r>
              <a:rPr lang="en-US" sz="1100">
                <a:solidFill>
                  <a:schemeClr val="tx1"/>
                </a:solidFill>
              </a:rPr>
              <a:t>90% of cases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FE6AB2-41B9-2CA8-D1E4-275B0F0A94B2}"/>
              </a:ext>
            </a:extLst>
          </p:cNvPr>
          <p:cNvSpPr/>
          <p:nvPr/>
        </p:nvSpPr>
        <p:spPr>
          <a:xfrm>
            <a:off x="6039708" y="1211577"/>
            <a:ext cx="1440180" cy="1226819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</a:rPr>
              <a:t>Control precision:</a:t>
            </a:r>
          </a:p>
          <a:p>
            <a:pPr algn="ctr"/>
            <a:r>
              <a:rPr lang="en-US" sz="3200" b="1">
                <a:solidFill>
                  <a:schemeClr val="tx1"/>
                </a:solidFill>
              </a:rPr>
              <a:t>0.91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chemeClr val="tx1"/>
                </a:solidFill>
              </a:rPr>
              <a:t>↓ false negatives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13EF56-98B3-1FBD-9A9D-A31F0B1A06DD}"/>
              </a:ext>
            </a:extLst>
          </p:cNvPr>
          <p:cNvSpPr/>
          <p:nvPr/>
        </p:nvSpPr>
        <p:spPr>
          <a:xfrm>
            <a:off x="6003634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1584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39" y="382483"/>
            <a:ext cx="9231170" cy="1453896"/>
          </a:xfrm>
        </p:spPr>
        <p:txBody>
          <a:bodyPr/>
          <a:lstStyle/>
          <a:p>
            <a:r>
              <a:rPr lang="en-US" b="1"/>
              <a:t>Interpretation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C179B-16F5-B0EA-D1AC-994412131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F5D8-D5B8-4089-B8CF-3C65B488B2D1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DF91-6465-ADEF-7133-CCC328584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032F8-92FC-BD1A-A9AF-986FE04C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B264FCB-BCBF-9913-0295-993FA45A703F}"/>
              </a:ext>
            </a:extLst>
          </p:cNvPr>
          <p:cNvSpPr/>
          <p:nvPr/>
        </p:nvSpPr>
        <p:spPr>
          <a:xfrm>
            <a:off x="647720" y="1227635"/>
            <a:ext cx="5063532" cy="2504903"/>
          </a:xfrm>
          <a:prstGeom prst="roundRect">
            <a:avLst>
              <a:gd name="adj" fmla="val 3243"/>
            </a:avLst>
          </a:prstGeom>
          <a:solidFill>
            <a:schemeClr val="accent2">
              <a:alpha val="44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50800" dir="5400000" algn="ctr" rotWithShape="0">
                  <a:srgbClr val="000000"/>
                </a:outerShdw>
              </a:effectLst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1D1F6AB-815C-A446-2CA6-27254A2F7CDC}"/>
              </a:ext>
            </a:extLst>
          </p:cNvPr>
          <p:cNvSpPr txBox="1">
            <a:spLocks/>
          </p:cNvSpPr>
          <p:nvPr/>
        </p:nvSpPr>
        <p:spPr>
          <a:xfrm>
            <a:off x="6985348" y="5150023"/>
            <a:ext cx="4616970" cy="167664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200">
              <a:solidFill>
                <a:schemeClr val="bg1"/>
              </a:solidFill>
              <a:latin typeface="Al Nile" pitchFamily="2" charset="-78"/>
              <a:cs typeface="Al Nile" pitchFamily="2" charset="-78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736251-911E-B751-DB10-12CD65F4C722}"/>
              </a:ext>
            </a:extLst>
          </p:cNvPr>
          <p:cNvCxnSpPr/>
          <p:nvPr/>
        </p:nvCxnSpPr>
        <p:spPr>
          <a:xfrm>
            <a:off x="245339" y="962217"/>
            <a:ext cx="116118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678275A-FE17-1126-DEBC-B9398306EC53}"/>
              </a:ext>
            </a:extLst>
          </p:cNvPr>
          <p:cNvSpPr/>
          <p:nvPr/>
        </p:nvSpPr>
        <p:spPr>
          <a:xfrm>
            <a:off x="6465757" y="1227634"/>
            <a:ext cx="5063532" cy="2504901"/>
          </a:xfrm>
          <a:prstGeom prst="roundRect">
            <a:avLst>
              <a:gd name="adj" fmla="val 3243"/>
            </a:avLst>
          </a:prstGeom>
          <a:solidFill>
            <a:schemeClr val="accent2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55447BD-7206-28D0-1530-DDE275D76D35}"/>
              </a:ext>
            </a:extLst>
          </p:cNvPr>
          <p:cNvSpPr/>
          <p:nvPr/>
        </p:nvSpPr>
        <p:spPr>
          <a:xfrm>
            <a:off x="6492672" y="3996666"/>
            <a:ext cx="5063532" cy="2478851"/>
          </a:xfrm>
          <a:prstGeom prst="roundRect">
            <a:avLst>
              <a:gd name="adj" fmla="val 3243"/>
            </a:avLst>
          </a:prstGeom>
          <a:solidFill>
            <a:schemeClr val="accent2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59D7F4A-F2D9-B0B0-E947-345F593AC54B}"/>
              </a:ext>
            </a:extLst>
          </p:cNvPr>
          <p:cNvSpPr/>
          <p:nvPr/>
        </p:nvSpPr>
        <p:spPr>
          <a:xfrm>
            <a:off x="647720" y="4011664"/>
            <a:ext cx="5063532" cy="2478860"/>
          </a:xfrm>
          <a:prstGeom prst="roundRect">
            <a:avLst>
              <a:gd name="adj" fmla="val 3243"/>
            </a:avLst>
          </a:prstGeom>
          <a:solidFill>
            <a:schemeClr val="accent2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963EC29A-54F1-B91B-F6A4-CF4B42A0EFF1}"/>
              </a:ext>
            </a:extLst>
          </p:cNvPr>
          <p:cNvSpPr txBox="1">
            <a:spLocks/>
          </p:cNvSpPr>
          <p:nvPr/>
        </p:nvSpPr>
        <p:spPr>
          <a:xfrm>
            <a:off x="662710" y="1223736"/>
            <a:ext cx="5048542" cy="24228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latin typeface="Al Nile" pitchFamily="2" charset="-78"/>
                <a:cs typeface="Al Nile" pitchFamily="2" charset="-78"/>
              </a:rPr>
              <a:t>What does the model tell us?</a:t>
            </a:r>
            <a:endParaRPr lang="en-US" sz="1600">
              <a:latin typeface="Al Nile" pitchFamily="2" charset="-78"/>
              <a:cs typeface="Al Nile" pitchFamily="2" charset="-78"/>
            </a:endParaRPr>
          </a:p>
          <a:p>
            <a:pPr algn="ctr"/>
            <a:r>
              <a:rPr lang="en-US" sz="1600">
                <a:latin typeface="Al Nile" pitchFamily="2" charset="-78"/>
                <a:cs typeface="Al Nile" pitchFamily="2" charset="-78"/>
              </a:rPr>
              <a:t>It approximates the brain signal patterns associated with alcoholism, using raw spatiotemporal EEG patterns. Our model does </a:t>
            </a:r>
            <a:r>
              <a:rPr lang="en-US" sz="1600" b="1">
                <a:latin typeface="Al Nile" pitchFamily="2" charset="-78"/>
                <a:cs typeface="Al Nile" pitchFamily="2" charset="-78"/>
              </a:rPr>
              <a:t>not</a:t>
            </a:r>
            <a:r>
              <a:rPr lang="en-US" sz="1600">
                <a:latin typeface="Al Nile" pitchFamily="2" charset="-78"/>
                <a:cs typeface="Al Nile" pitchFamily="2" charset="-78"/>
              </a:rPr>
              <a:t> model cognition, rather it recognizes patterns.</a:t>
            </a:r>
            <a:br>
              <a:rPr lang="en-US" sz="1600">
                <a:latin typeface="Al Nile" pitchFamily="2" charset="-78"/>
                <a:cs typeface="Al Nile" pitchFamily="2" charset="-78"/>
              </a:rPr>
            </a:br>
            <a:endParaRPr lang="en-US" sz="1600">
              <a:solidFill>
                <a:schemeClr val="bg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l Nile" pitchFamily="2" charset="-78"/>
              <a:cs typeface="Al Nile" pitchFamily="2" charset="-78"/>
            </a:endParaRP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E148DC5F-DEF9-3B1B-4C7C-002EBF6FB91A}"/>
              </a:ext>
            </a:extLst>
          </p:cNvPr>
          <p:cNvSpPr txBox="1">
            <a:spLocks/>
          </p:cNvSpPr>
          <p:nvPr/>
        </p:nvSpPr>
        <p:spPr>
          <a:xfrm>
            <a:off x="6480748" y="1863263"/>
            <a:ext cx="5063532" cy="2422861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latin typeface="Al Nile" pitchFamily="2" charset="-78"/>
                <a:cs typeface="Al Nile" pitchFamily="2" charset="-78"/>
              </a:rPr>
              <a:t>Cognitive Implications</a:t>
            </a:r>
            <a:endParaRPr lang="en-US" sz="1600">
              <a:latin typeface="Al Nile" pitchFamily="2" charset="-78"/>
              <a:cs typeface="Al Nile" pitchFamily="2" charset="-78"/>
            </a:endParaRPr>
          </a:p>
          <a:p>
            <a:pPr algn="ctr"/>
            <a:r>
              <a:rPr lang="en-US" sz="1600">
                <a:latin typeface="Al Nile" pitchFamily="2" charset="-78"/>
                <a:cs typeface="Al Nile" pitchFamily="2" charset="-78"/>
              </a:rPr>
              <a:t>Alpha suppression (relaxation) and theta enhancements (drowsiness) are known biomarkers of alcoholism. Model’s ability to classify above 85% accuracy supports the hypothesis that EEG caries genetic predisposition signatures before the disorder develops.</a:t>
            </a:r>
          </a:p>
          <a:p>
            <a:pPr algn="ctr"/>
            <a:br>
              <a:rPr lang="en-US" sz="1600">
                <a:latin typeface="Al Nile" pitchFamily="2" charset="-78"/>
                <a:cs typeface="Al Nile" pitchFamily="2" charset="-78"/>
              </a:rPr>
            </a:br>
            <a:endParaRPr lang="en-US" sz="1600">
              <a:solidFill>
                <a:schemeClr val="bg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l Nile" pitchFamily="2" charset="-78"/>
              <a:cs typeface="Al Nile" pitchFamily="2" charset="-78"/>
            </a:endParaRP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8F6C2F02-0DE6-A4D9-9A7A-08E467E011A1}"/>
              </a:ext>
            </a:extLst>
          </p:cNvPr>
          <p:cNvSpPr txBox="1">
            <a:spLocks/>
          </p:cNvSpPr>
          <p:nvPr/>
        </p:nvSpPr>
        <p:spPr>
          <a:xfrm>
            <a:off x="632729" y="4183763"/>
            <a:ext cx="5063531" cy="24488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latin typeface="Al Nile" pitchFamily="2" charset="-78"/>
                <a:cs typeface="Al Nile" pitchFamily="2" charset="-78"/>
              </a:rPr>
              <a:t>Deterministic or Probabilistic?</a:t>
            </a:r>
            <a:endParaRPr lang="en-US" sz="1600">
              <a:latin typeface="Al Nile" pitchFamily="2" charset="-78"/>
              <a:cs typeface="Al Nile" pitchFamily="2" charset="-78"/>
            </a:endParaRPr>
          </a:p>
          <a:p>
            <a:pPr algn="ctr"/>
            <a:r>
              <a:rPr lang="en-US" sz="1600">
                <a:latin typeface="Al Nile" pitchFamily="2" charset="-78"/>
                <a:cs typeface="Al Nile" pitchFamily="2" charset="-78"/>
              </a:rPr>
              <a:t>Deterministic – same EEG input produces same classification output. SoftMax outputs class probabilities but does not quantify uncertainty.</a:t>
            </a:r>
          </a:p>
          <a:p>
            <a:pPr algn="ctr"/>
            <a:br>
              <a:rPr lang="en-US" sz="1600">
                <a:latin typeface="Al Nile" pitchFamily="2" charset="-78"/>
                <a:cs typeface="Al Nile" pitchFamily="2" charset="-78"/>
              </a:rPr>
            </a:br>
            <a:endParaRPr lang="en-US" sz="1600">
              <a:solidFill>
                <a:schemeClr val="bg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l Nile" pitchFamily="2" charset="-78"/>
              <a:cs typeface="Al Nile" pitchFamily="2" charset="-78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239C0B0D-A762-8BB2-8D75-2A7584F6409C}"/>
              </a:ext>
            </a:extLst>
          </p:cNvPr>
          <p:cNvSpPr txBox="1">
            <a:spLocks/>
          </p:cNvSpPr>
          <p:nvPr/>
        </p:nvSpPr>
        <p:spPr>
          <a:xfrm>
            <a:off x="6609522" y="4084982"/>
            <a:ext cx="4790661" cy="22651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sz="1600" b="1">
                <a:latin typeface="Al Nile" pitchFamily="2" charset="-78"/>
                <a:cs typeface="Al Nile" pitchFamily="2" charset="-78"/>
              </a:rPr>
              <a:t>Model Assumptions</a:t>
            </a:r>
            <a:endParaRPr lang="en-US" sz="1600">
              <a:latin typeface="Al Nile" pitchFamily="2" charset="-78"/>
              <a:cs typeface="Al Nile" pitchFamily="2" charset="-78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>
                <a:latin typeface="Al Nile" pitchFamily="2" charset="-78"/>
                <a:cs typeface="Al Nile" pitchFamily="2" charset="-78"/>
              </a:rPr>
              <a:t>EEG signals contain discriminative patterns.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>
                <a:latin typeface="Al Nile" pitchFamily="2" charset="-78"/>
                <a:cs typeface="Al Nile" pitchFamily="2" charset="-78"/>
              </a:rPr>
              <a:t>Temporal patterns are meaningful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>
                <a:latin typeface="Al Nile" pitchFamily="2" charset="-78"/>
                <a:cs typeface="Al Nile" pitchFamily="2" charset="-78"/>
              </a:rPr>
              <a:t>Spatial electrode relationships carry diagnostic information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>
                <a:latin typeface="Al Nile" pitchFamily="2" charset="-78"/>
                <a:cs typeface="Al Nile" pitchFamily="2" charset="-78"/>
              </a:rPr>
              <a:t>Data is clean, correctly labeled &amp; accurate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>
                <a:latin typeface="Al Nile" pitchFamily="2" charset="-78"/>
                <a:cs typeface="Al Nile" pitchFamily="2" charset="-78"/>
              </a:rPr>
              <a:t>Trials are independent of each other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>
                <a:latin typeface="Al Nile" pitchFamily="2" charset="-78"/>
                <a:cs typeface="Al Nile" pitchFamily="2" charset="-78"/>
              </a:rPr>
              <a:t>Assume consistent electrode ordering across trials</a:t>
            </a:r>
            <a:endParaRPr lang="en-US" sz="1200">
              <a:solidFill>
                <a:schemeClr val="bg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l Nile" pitchFamily="2" charset="-78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BA28-7B5B-3D59-0D23-C072A5C2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657667"/>
          </a:xfrm>
        </p:spPr>
        <p:txBody>
          <a:bodyPr>
            <a:normAutofit/>
          </a:bodyPr>
          <a:lstStyle/>
          <a:p>
            <a:r>
              <a:rPr lang="en-US" sz="4000" b="1"/>
              <a:t>Limitations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9490C-0AC8-DB82-0D8F-BF8C4A55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E0C6-06DB-432B-A080-77CD90ED5127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A4C37-2120-C1F6-AF98-9C441568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62AC7-4EBD-6C7B-71E2-19F58FD8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10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F6AA56-0F96-011A-B45C-13D56995FB60}"/>
              </a:ext>
            </a:extLst>
          </p:cNvPr>
          <p:cNvGrpSpPr/>
          <p:nvPr/>
        </p:nvGrpSpPr>
        <p:grpSpPr>
          <a:xfrm>
            <a:off x="356542" y="1492918"/>
            <a:ext cx="7137251" cy="4893591"/>
            <a:chOff x="0" y="1721695"/>
            <a:chExt cx="8063345" cy="198832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1727171-3213-EF94-43E9-42E90E70AD3C}"/>
                </a:ext>
              </a:extLst>
            </p:cNvPr>
            <p:cNvSpPr/>
            <p:nvPr/>
          </p:nvSpPr>
          <p:spPr>
            <a:xfrm>
              <a:off x="0" y="1721695"/>
              <a:ext cx="8063345" cy="1988320"/>
            </a:xfrm>
            <a:prstGeom prst="rect">
              <a:avLst/>
            </a:prstGeom>
            <a:solidFill>
              <a:schemeClr val="accent2">
                <a:alpha val="4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51659D09-37CF-98F0-2DC3-714DD59C2413}"/>
                </a:ext>
              </a:extLst>
            </p:cNvPr>
            <p:cNvSpPr txBox="1">
              <a:spLocks/>
            </p:cNvSpPr>
            <p:nvPr/>
          </p:nvSpPr>
          <p:spPr>
            <a:xfrm>
              <a:off x="431171" y="1820434"/>
              <a:ext cx="7410501" cy="1756655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1800" b="1">
                  <a:latin typeface="Al Nile" pitchFamily="2" charset="-78"/>
                  <a:cs typeface="Al Nile" pitchFamily="2" charset="-78"/>
                </a:rPr>
                <a:t>Biological Realism</a:t>
              </a:r>
            </a:p>
            <a:p>
              <a:pPr marL="285750" indent="-285750">
                <a:lnSpc>
                  <a:spcPct val="100000"/>
                </a:lnSpc>
                <a:buFontTx/>
                <a:buChar char="-"/>
              </a:pPr>
              <a:r>
                <a:rPr lang="en-US" sz="1600">
                  <a:latin typeface="Al Nile" pitchFamily="2" charset="-78"/>
                  <a:cs typeface="Al Nile" pitchFamily="2" charset="-78"/>
                </a:rPr>
                <a:t>The model processes EEG signals but does not reflect how biological neurons compute (all or nothing).</a:t>
              </a:r>
            </a:p>
            <a:p>
              <a:pPr marL="285750" indent="-285750">
                <a:lnSpc>
                  <a:spcPct val="100000"/>
                </a:lnSpc>
                <a:buFontTx/>
                <a:buChar char="-"/>
              </a:pPr>
              <a:r>
                <a:rPr lang="en-US" sz="1600">
                  <a:latin typeface="Al Nile" pitchFamily="2" charset="-78"/>
                  <a:cs typeface="Al Nile" pitchFamily="2" charset="-78"/>
                </a:rPr>
                <a:t>Model learns by sending error signals backwards through the network (Backpropagation) and finds statistical regularities in EEG data</a:t>
              </a:r>
            </a:p>
            <a:p>
              <a:pPr marL="285750" indent="-285750">
                <a:lnSpc>
                  <a:spcPct val="100000"/>
                </a:lnSpc>
                <a:buFontTx/>
                <a:buChar char="-"/>
              </a:pPr>
              <a:r>
                <a:rPr lang="en-US" sz="1600">
                  <a:latin typeface="Al Nile" pitchFamily="2" charset="-78"/>
                  <a:cs typeface="Al Nile" pitchFamily="2" charset="-78"/>
                </a:rPr>
                <a:t>Real neurons fire in an all-or-nothing fashion, ELU activation outputs a continuous value, which doesn't reflect that</a:t>
              </a:r>
            </a:p>
            <a:p>
              <a:pPr marL="285750" indent="-285750">
                <a:lnSpc>
                  <a:spcPct val="100000"/>
                </a:lnSpc>
                <a:buFontTx/>
                <a:buChar char="-"/>
              </a:pPr>
              <a:r>
                <a:rPr lang="en-US" sz="1600">
                  <a:latin typeface="Al Nile" pitchFamily="2" charset="-78"/>
                  <a:cs typeface="Al Nile" pitchFamily="2" charset="-78"/>
                </a:rPr>
                <a:t>Learning happens via backpropagation, which requires sending error signals backward through the network unlike real brains</a:t>
              </a:r>
            </a:p>
            <a:p>
              <a:pPr marL="285750" indent="-285750">
                <a:lnSpc>
                  <a:spcPct val="100000"/>
                </a:lnSpc>
                <a:buFontTx/>
                <a:buChar char="-"/>
              </a:pPr>
              <a:r>
                <a:rPr lang="en-US" sz="1600">
                  <a:latin typeface="Al Nile" pitchFamily="2" charset="-78"/>
                  <a:cs typeface="Al Nile" pitchFamily="2" charset="-78"/>
                </a:rPr>
                <a:t>The model has no concept of timing/spiking; real neurons communicate through spike timing, not weighted sums</a:t>
              </a:r>
            </a:p>
            <a:p>
              <a:pPr>
                <a:lnSpc>
                  <a:spcPct val="100000"/>
                </a:lnSpc>
              </a:pPr>
              <a:r>
                <a:rPr lang="en-US" sz="1600">
                  <a:latin typeface="Al Nile" pitchFamily="2" charset="-78"/>
                  <a:cs typeface="Al Nile" pitchFamily="2" charset="-78"/>
                </a:rPr>
                <a:t>The model is a </a:t>
              </a:r>
              <a:r>
                <a:rPr lang="en-US" sz="1600" b="1" i="1">
                  <a:latin typeface="Al Nile" pitchFamily="2" charset="-78"/>
                  <a:cs typeface="Al Nile" pitchFamily="2" charset="-78"/>
                </a:rPr>
                <a:t>functional classification </a:t>
              </a:r>
              <a:r>
                <a:rPr lang="en-US" sz="1600">
                  <a:latin typeface="Al Nile" pitchFamily="2" charset="-78"/>
                  <a:cs typeface="Al Nile" pitchFamily="2" charset="-78"/>
                </a:rPr>
                <a:t>model, not a biological mechanical one.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5D24DD-51FD-F158-A934-CF3CBBFC739D}"/>
              </a:ext>
            </a:extLst>
          </p:cNvPr>
          <p:cNvGrpSpPr/>
          <p:nvPr/>
        </p:nvGrpSpPr>
        <p:grpSpPr>
          <a:xfrm>
            <a:off x="7958138" y="1489451"/>
            <a:ext cx="3690293" cy="4893589"/>
            <a:chOff x="7129463" y="1407326"/>
            <a:chExt cx="5062537" cy="489705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A93309-0B20-C46E-5797-B4AD793A3ADB}"/>
                </a:ext>
              </a:extLst>
            </p:cNvPr>
            <p:cNvSpPr>
              <a:spLocks/>
            </p:cNvSpPr>
            <p:nvPr/>
          </p:nvSpPr>
          <p:spPr>
            <a:xfrm>
              <a:off x="7129463" y="1407326"/>
              <a:ext cx="5062537" cy="4897058"/>
            </a:xfrm>
            <a:prstGeom prst="rect">
              <a:avLst/>
            </a:prstGeom>
            <a:solidFill>
              <a:schemeClr val="accent2">
                <a:alpha val="4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06625573-0DAF-757A-E934-9E673FCC2D82}"/>
                </a:ext>
              </a:extLst>
            </p:cNvPr>
            <p:cNvSpPr txBox="1">
              <a:spLocks/>
            </p:cNvSpPr>
            <p:nvPr/>
          </p:nvSpPr>
          <p:spPr>
            <a:xfrm>
              <a:off x="7341596" y="1546749"/>
              <a:ext cx="4652652" cy="454638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100"/>
                </a:spcBef>
              </a:pPr>
              <a:r>
                <a:rPr lang="en-US" b="1">
                  <a:latin typeface="Al Nile" pitchFamily="2" charset="-78"/>
                  <a:cs typeface="Al Nile" pitchFamily="2" charset="-78"/>
                </a:rPr>
                <a:t>Data limitations</a:t>
              </a:r>
            </a:p>
            <a:p>
              <a:pPr>
                <a:lnSpc>
                  <a:spcPct val="100000"/>
                </a:lnSpc>
                <a:spcBef>
                  <a:spcPts val="100"/>
                </a:spcBef>
              </a:pPr>
              <a:endParaRPr lang="en-US" sz="1500">
                <a:latin typeface="Al Nile" pitchFamily="2" charset="-78"/>
                <a:cs typeface="Al Nile" pitchFamily="2" charset="-78"/>
              </a:endParaRPr>
            </a:p>
            <a:p>
              <a:pPr marL="342900" indent="-342900">
                <a:lnSpc>
                  <a:spcPct val="100000"/>
                </a:lnSpc>
                <a:spcBef>
                  <a:spcPts val="100"/>
                </a:spcBef>
                <a:buFontTx/>
                <a:buChar char="-"/>
              </a:pPr>
              <a:r>
                <a:rPr lang="en-US" sz="1700">
                  <a:latin typeface="Al Nile" pitchFamily="2" charset="-78"/>
                  <a:cs typeface="Al Nile" pitchFamily="2" charset="-78"/>
                </a:rPr>
                <a:t>Subject leakage: split by trial not subject</a:t>
              </a:r>
            </a:p>
            <a:p>
              <a:pPr marL="342900" indent="-342900">
                <a:lnSpc>
                  <a:spcPct val="100000"/>
                </a:lnSpc>
                <a:spcBef>
                  <a:spcPts val="100"/>
                </a:spcBef>
                <a:buFontTx/>
                <a:buChar char="-"/>
              </a:pPr>
              <a:r>
                <a:rPr lang="en-US" sz="1700">
                  <a:latin typeface="Al Nile" pitchFamily="2" charset="-78"/>
                  <a:cs typeface="Al Nile" pitchFamily="2" charset="-78"/>
                </a:rPr>
                <a:t>Small dataset: EEG inherently noisy and hard to standardize.</a:t>
              </a:r>
            </a:p>
            <a:p>
              <a:pPr marL="342900" indent="-342900">
                <a:lnSpc>
                  <a:spcPct val="100000"/>
                </a:lnSpc>
                <a:spcBef>
                  <a:spcPts val="100"/>
                </a:spcBef>
                <a:buFontTx/>
                <a:buChar char="-"/>
              </a:pPr>
              <a:r>
                <a:rPr lang="en-US" sz="1700">
                  <a:latin typeface="Al Nile" pitchFamily="2" charset="-78"/>
                  <a:cs typeface="Al Nile" pitchFamily="2" charset="-78"/>
                </a:rPr>
                <a:t>Temporal window fixed at t1: Might miss longer cognitive processes</a:t>
              </a:r>
            </a:p>
            <a:p>
              <a:pPr marL="342900" indent="-342900">
                <a:lnSpc>
                  <a:spcPct val="100000"/>
                </a:lnSpc>
                <a:spcBef>
                  <a:spcPts val="100"/>
                </a:spcBef>
                <a:buFontTx/>
                <a:buChar char="-"/>
              </a:pPr>
              <a:r>
                <a:rPr lang="en-US" sz="1700">
                  <a:latin typeface="Al Nile" pitchFamily="2" charset="-78"/>
                  <a:cs typeface="Al Nile" pitchFamily="2" charset="-78"/>
                </a:rPr>
                <a:t>Artifact handling: no removal of eye blinks, muscle noise or electrode artifacts.</a:t>
              </a:r>
            </a:p>
            <a:p>
              <a:pPr marL="342900" indent="-342900">
                <a:lnSpc>
                  <a:spcPct val="100000"/>
                </a:lnSpc>
                <a:spcBef>
                  <a:spcPts val="100"/>
                </a:spcBef>
                <a:buFontTx/>
                <a:buChar char="-"/>
              </a:pPr>
              <a:r>
                <a:rPr lang="en-US" sz="1700">
                  <a:latin typeface="Al Nile" pitchFamily="2" charset="-78"/>
                  <a:cs typeface="Al Nile" pitchFamily="2" charset="-78"/>
                </a:rPr>
                <a:t>Black box model</a:t>
              </a:r>
            </a:p>
            <a:p>
              <a:pPr>
                <a:lnSpc>
                  <a:spcPct val="100000"/>
                </a:lnSpc>
                <a:spcBef>
                  <a:spcPts val="100"/>
                </a:spcBef>
              </a:pPr>
              <a:endParaRPr lang="en-US" sz="1700">
                <a:latin typeface="Al Nile" pitchFamily="2" charset="-78"/>
                <a:cs typeface="Al Nile" pitchFamily="2" charset="-78"/>
              </a:endParaRPr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94C398-608D-CFF0-3B71-CD8FA0633732}"/>
              </a:ext>
            </a:extLst>
          </p:cNvPr>
          <p:cNvCxnSpPr/>
          <p:nvPr/>
        </p:nvCxnSpPr>
        <p:spPr>
          <a:xfrm>
            <a:off x="431172" y="1211283"/>
            <a:ext cx="111250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730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2E6D6-24C1-8FD2-6F3A-55152FFB8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73CDC3-8E22-754C-B034-1F62FF5E445C}"/>
              </a:ext>
            </a:extLst>
          </p:cNvPr>
          <p:cNvSpPr/>
          <p:nvPr/>
        </p:nvSpPr>
        <p:spPr>
          <a:xfrm>
            <a:off x="-9537" y="1704004"/>
            <a:ext cx="10084526" cy="4417743"/>
          </a:xfrm>
          <a:prstGeom prst="rect">
            <a:avLst/>
          </a:prstGeom>
          <a:solidFill>
            <a:schemeClr val="accent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58304A-95ED-41F3-5217-D174769F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657667"/>
          </a:xfrm>
        </p:spPr>
        <p:txBody>
          <a:bodyPr>
            <a:normAutofit/>
          </a:bodyPr>
          <a:lstStyle/>
          <a:p>
            <a:r>
              <a:rPr lang="en-US" sz="4000" b="1"/>
              <a:t>Future 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9957A-DFC7-C88B-4DA0-D6A59E604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E0C6-06DB-432B-A080-77CD90ED5127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E7DB4-3A9E-EE8B-7B75-384201D46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1E713-7A07-6A1C-18FF-7A44663AC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11</a:t>
            </a:fld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84544BB-0CDF-072B-739A-5A41D39746DA}"/>
              </a:ext>
            </a:extLst>
          </p:cNvPr>
          <p:cNvSpPr txBox="1">
            <a:spLocks/>
          </p:cNvSpPr>
          <p:nvPr/>
        </p:nvSpPr>
        <p:spPr>
          <a:xfrm>
            <a:off x="431172" y="1879547"/>
            <a:ext cx="9416213" cy="44354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500" b="1">
                <a:latin typeface="Al Nile" pitchFamily="2" charset="-78"/>
                <a:cs typeface="Al Nile" pitchFamily="2" charset="-78"/>
              </a:rPr>
              <a:t>Increase Dataset Size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sz="2200">
                <a:latin typeface="Al Nile" pitchFamily="2" charset="-78"/>
                <a:cs typeface="Al Nile" pitchFamily="2" charset="-78"/>
              </a:rPr>
              <a:t>Adding full UCI EEG dataset or combining with other public EEG alcoholism datasets</a:t>
            </a:r>
          </a:p>
          <a:p>
            <a:pPr>
              <a:lnSpc>
                <a:spcPct val="100000"/>
              </a:lnSpc>
            </a:pPr>
            <a:r>
              <a:rPr lang="en-US" sz="2500" b="1">
                <a:latin typeface="Al Nile" pitchFamily="2" charset="-78"/>
                <a:cs typeface="Al Nile" pitchFamily="2" charset="-78"/>
              </a:rPr>
              <a:t>Increase Temporal Window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sz="2200">
                <a:latin typeface="Al Nile" pitchFamily="2" charset="-78"/>
                <a:cs typeface="Al Nile" pitchFamily="2" charset="-78"/>
              </a:rPr>
              <a:t>Trials currently fixed at 1 second, experimenting with longer time window ma capture slower cognitive processes</a:t>
            </a:r>
          </a:p>
          <a:p>
            <a:pPr>
              <a:lnSpc>
                <a:spcPct val="100000"/>
              </a:lnSpc>
            </a:pPr>
            <a:r>
              <a:rPr lang="en-US" sz="2500" b="1">
                <a:latin typeface="Al Nile" pitchFamily="2" charset="-78"/>
                <a:cs typeface="Al Nile" pitchFamily="2" charset="-78"/>
              </a:rPr>
              <a:t>Bayesian CNN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sz="2200">
                <a:latin typeface="Al Nile" pitchFamily="2" charset="-78"/>
                <a:cs typeface="Al Nile" pitchFamily="2" charset="-78"/>
              </a:rPr>
              <a:t>Replace standard weights with probability distribution to quantify uncertainty per predication to make the model more confident. 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en-US" sz="2200">
              <a:latin typeface="Al Nile" pitchFamily="2" charset="-78"/>
              <a:cs typeface="Al Nile" pitchFamily="2" charset="-78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5FD918D-B291-C80F-FC44-0184E097FB3D}"/>
              </a:ext>
            </a:extLst>
          </p:cNvPr>
          <p:cNvCxnSpPr/>
          <p:nvPr/>
        </p:nvCxnSpPr>
        <p:spPr>
          <a:xfrm>
            <a:off x="431172" y="1211283"/>
            <a:ext cx="111250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532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6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FBA65A-90D8-E99A-6A99-27804677F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974CEB7-CF86-8BD2-32F6-B5970DC16D63}"/>
              </a:ext>
            </a:extLst>
          </p:cNvPr>
          <p:cNvSpPr/>
          <p:nvPr/>
        </p:nvSpPr>
        <p:spPr>
          <a:xfrm>
            <a:off x="6518434" y="1336452"/>
            <a:ext cx="5037770" cy="223204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>
              <a:solidFill>
                <a:schemeClr val="tx1"/>
              </a:solidFill>
              <a:effectLst>
                <a:outerShdw blurRad="50800" dist="50800" dir="5400000" algn="ctr" rotWithShape="0">
                  <a:srgbClr val="000000"/>
                </a:outerShdw>
              </a:effectLst>
              <a:latin typeface="Al Nile" pitchFamily="2" charset="-78"/>
              <a:cs typeface="Al Nile" pitchFamily="2" charset="-78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F4CC50D-4E3D-00A0-1258-C468FC545B6A}"/>
              </a:ext>
            </a:extLst>
          </p:cNvPr>
          <p:cNvSpPr/>
          <p:nvPr/>
        </p:nvSpPr>
        <p:spPr>
          <a:xfrm>
            <a:off x="676567" y="4010887"/>
            <a:ext cx="4825312" cy="223204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>
              <a:solidFill>
                <a:schemeClr val="tx1"/>
              </a:solidFill>
              <a:effectLst>
                <a:outerShdw blurRad="50800" dist="50800" dir="5400000" algn="ctr" rotWithShape="0">
                  <a:srgbClr val="000000"/>
                </a:outerShdw>
              </a:effectLst>
              <a:latin typeface="Al Nile" pitchFamily="2" charset="-78"/>
              <a:cs typeface="Al Nile" pitchFamily="2" charset="-7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EF709E-CA8C-BAF6-9117-FC9D5D60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39" y="382483"/>
            <a:ext cx="3827439" cy="1453896"/>
          </a:xfrm>
        </p:spPr>
        <p:txBody>
          <a:bodyPr/>
          <a:lstStyle/>
          <a:p>
            <a:r>
              <a:rPr lang="en-US" b="1"/>
              <a:t>Conclusion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B5020-B38E-CC6A-E55B-90CFBE49F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F5D8-D5B8-4089-B8CF-3C65B488B2D1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AFCFC-AAC8-D635-3244-F2DE71615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Shariq H. &amp; </a:t>
            </a:r>
            <a:r>
              <a:rPr lang="en-US" err="1"/>
              <a:t>Krithikaa</a:t>
            </a:r>
            <a:r>
              <a:rPr lang="en-US"/>
              <a:t> 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2D73C-2666-DC58-165C-DBE26DB30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12</a:t>
            </a:fld>
            <a:endParaRPr lang="en-US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79DEF6F-5FC6-8660-CFB7-E1F1512660B1}"/>
              </a:ext>
            </a:extLst>
          </p:cNvPr>
          <p:cNvSpPr txBox="1">
            <a:spLocks/>
          </p:cNvSpPr>
          <p:nvPr/>
        </p:nvSpPr>
        <p:spPr>
          <a:xfrm>
            <a:off x="6985348" y="5150023"/>
            <a:ext cx="4616970" cy="167664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200">
              <a:solidFill>
                <a:schemeClr val="bg1"/>
              </a:solidFill>
              <a:latin typeface="Al Nile" pitchFamily="2" charset="-78"/>
              <a:cs typeface="Al Nile" pitchFamily="2" charset="-78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1540FE-00A8-24F8-E51D-5C34F8923F26}"/>
              </a:ext>
            </a:extLst>
          </p:cNvPr>
          <p:cNvCxnSpPr/>
          <p:nvPr/>
        </p:nvCxnSpPr>
        <p:spPr>
          <a:xfrm>
            <a:off x="245339" y="962217"/>
            <a:ext cx="116118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Picture 9" descr="A diagram of a graph&#10;&#10;AI-generated content may be incorrect.">
            <a:extLst>
              <a:ext uri="{FF2B5EF4-FFF2-40B4-BE49-F238E27FC236}">
                <a16:creationId xmlns:a16="http://schemas.microsoft.com/office/drawing/2014/main" id="{295BECAC-2FE0-5013-7689-EC2F34D2B0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434" y="4010887"/>
            <a:ext cx="5129997" cy="2295852"/>
          </a:xfrm>
          <a:prstGeom prst="rect">
            <a:avLst/>
          </a:prstGeom>
          <a:effectLst>
            <a:softEdge rad="64897"/>
          </a:effectLst>
        </p:spPr>
      </p:pic>
      <p:pic>
        <p:nvPicPr>
          <p:cNvPr id="14" name="Picture 13" descr="A diagram of a scientific experiment&#10;&#10;AI-generated content may be incorrect.">
            <a:extLst>
              <a:ext uri="{FF2B5EF4-FFF2-40B4-BE49-F238E27FC236}">
                <a16:creationId xmlns:a16="http://schemas.microsoft.com/office/drawing/2014/main" id="{89438620-F3A7-67B9-7F52-FCBD018A5B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81" y="1275076"/>
            <a:ext cx="4912197" cy="2291945"/>
          </a:xfrm>
          <a:prstGeom prst="rect">
            <a:avLst/>
          </a:prstGeom>
          <a:effectLst>
            <a:softEdge rad="68946"/>
          </a:effectLst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284A1F06-2107-CC34-5084-19237AE24B3E}"/>
              </a:ext>
            </a:extLst>
          </p:cNvPr>
          <p:cNvSpPr txBox="1">
            <a:spLocks/>
          </p:cNvSpPr>
          <p:nvPr/>
        </p:nvSpPr>
        <p:spPr>
          <a:xfrm>
            <a:off x="717369" y="3640077"/>
            <a:ext cx="4784509" cy="22919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1500" b="1">
                <a:latin typeface="Al Nile" pitchFamily="2" charset="-78"/>
                <a:cs typeface="Al Nile" pitchFamily="2" charset="-78"/>
              </a:rPr>
              <a:t>Biomarkers</a:t>
            </a:r>
            <a:r>
              <a:rPr lang="en-US" sz="1500">
                <a:latin typeface="Al Nile" pitchFamily="2" charset="-78"/>
                <a:cs typeface="Al Nile" pitchFamily="2" charset="-78"/>
              </a:rPr>
              <a:t> of Alcoholism risk: Alpha suppression and theta enhancement key to model performance</a:t>
            </a:r>
          </a:p>
          <a:p>
            <a:pPr marL="342900" indent="-342900"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1500">
                <a:latin typeface="Al Nile" pitchFamily="2" charset="-78"/>
                <a:cs typeface="Al Nile" pitchFamily="2" charset="-78"/>
              </a:rPr>
              <a:t>Use of </a:t>
            </a:r>
            <a:r>
              <a:rPr lang="en-US" sz="1500" err="1">
                <a:latin typeface="Al Nile" pitchFamily="2" charset="-78"/>
                <a:cs typeface="Al Nile" pitchFamily="2" charset="-78"/>
              </a:rPr>
              <a:t>CrossEntropyLossModel</a:t>
            </a:r>
            <a:r>
              <a:rPr lang="en-US" sz="1500">
                <a:latin typeface="Al Nile" pitchFamily="2" charset="-78"/>
                <a:cs typeface="Al Nile" pitchFamily="2" charset="-78"/>
              </a:rPr>
              <a:t> + ADAM + Cosine annealing were effective for handling noisy EEG data</a:t>
            </a:r>
          </a:p>
          <a:p>
            <a:pPr marL="342900" indent="-342900"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1500">
                <a:latin typeface="Al Nile" pitchFamily="2" charset="-78"/>
                <a:cs typeface="Al Nile" pitchFamily="2" charset="-78"/>
              </a:rPr>
              <a:t>Demonstrates </a:t>
            </a:r>
            <a:r>
              <a:rPr lang="en-US" sz="1500" b="1">
                <a:latin typeface="Al Nile" pitchFamily="2" charset="-78"/>
                <a:cs typeface="Al Nile" pitchFamily="2" charset="-78"/>
              </a:rPr>
              <a:t>High recall:</a:t>
            </a:r>
            <a:r>
              <a:rPr lang="en-US" sz="1500">
                <a:latin typeface="Al Nile" pitchFamily="2" charset="-78"/>
                <a:cs typeface="Al Nile" pitchFamily="2" charset="-78"/>
              </a:rPr>
              <a:t> 0.90 for alcoholic 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DC06F4E-9ED1-3A31-EC30-2047E44C88D7}"/>
              </a:ext>
            </a:extLst>
          </p:cNvPr>
          <p:cNvSpPr txBox="1">
            <a:spLocks/>
          </p:cNvSpPr>
          <p:nvPr/>
        </p:nvSpPr>
        <p:spPr>
          <a:xfrm>
            <a:off x="6564546" y="1146003"/>
            <a:ext cx="5083885" cy="19503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1500" b="1">
                <a:latin typeface="Al Nile" pitchFamily="2" charset="-78"/>
                <a:cs typeface="Al Nile" pitchFamily="2" charset="-78"/>
              </a:rPr>
              <a:t>85% accuracy </a:t>
            </a:r>
            <a:r>
              <a:rPr lang="en-US" sz="1500">
                <a:latin typeface="Al Nile" pitchFamily="2" charset="-78"/>
                <a:cs typeface="Al Nile" pitchFamily="2" charset="-78"/>
              </a:rPr>
              <a:t>classification of Control vs Alcoholic subjects</a:t>
            </a:r>
          </a:p>
          <a:p>
            <a:pPr marL="342900" indent="-342900"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1500">
                <a:latin typeface="Al Nile" pitchFamily="2" charset="-78"/>
                <a:cs typeface="Al Nile" pitchFamily="2" charset="-78"/>
              </a:rPr>
              <a:t>Spatiotemporal EEG patterns are detectable enough for model to learn and make decisions</a:t>
            </a:r>
          </a:p>
        </p:txBody>
      </p:sp>
    </p:spTree>
    <p:extLst>
      <p:ext uri="{BB962C8B-B14F-4D97-AF65-F5344CB8AC3E}">
        <p14:creationId xmlns:p14="http://schemas.microsoft.com/office/powerpoint/2010/main" val="3680745927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377f27d-3c73-495d-8e25-a6e8e9f3a02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B465D2B96B9D4CA7F3031A6B8448C7" ma:contentTypeVersion="14" ma:contentTypeDescription="Create a new document." ma:contentTypeScope="" ma:versionID="91817569604a286d5a449ee437d26b19">
  <xsd:schema xmlns:xsd="http://www.w3.org/2001/XMLSchema" xmlns:xs="http://www.w3.org/2001/XMLSchema" xmlns:p="http://schemas.microsoft.com/office/2006/metadata/properties" xmlns:ns3="5377f27d-3c73-495d-8e25-a6e8e9f3a027" xmlns:ns4="32cebdde-b3dc-4add-9d9f-baace33db1fe" targetNamespace="http://schemas.microsoft.com/office/2006/metadata/properties" ma:root="true" ma:fieldsID="9acf00ca22fddd03909787cd25311d7c" ns3:_="" ns4:_="">
    <xsd:import namespace="5377f27d-3c73-495d-8e25-a6e8e9f3a027"/>
    <xsd:import namespace="32cebdde-b3dc-4add-9d9f-baace33db1f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7f27d-3c73-495d-8e25-a6e8e9f3a0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cebdde-b3dc-4add-9d9f-baace33db1f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purl.org/dc/dcmitype/"/>
    <ds:schemaRef ds:uri="5377f27d-3c73-495d-8e25-a6e8e9f3a027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32cebdde-b3dc-4add-9d9f-baace33db1f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FD6CE6C-66B1-47B2-A1C8-984E3041C9DE}">
  <ds:schemaRefs>
    <ds:schemaRef ds:uri="32cebdde-b3dc-4add-9d9f-baace33db1fe"/>
    <ds:schemaRef ds:uri="5377f27d-3c73-495d-8e25-a6e8e9f3a0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{6DBB9A27-E320-401E-973F-9BE3E1D6E8F2}05f950ec-c865-457c-93ae-9eb2ef1c603f-TFa19fa653-f273-4169-96ef-448bb1cd1027_win32</Template>
  <TotalTime>0</TotalTime>
  <Words>1542</Words>
  <Application>Microsoft Office PowerPoint</Application>
  <PresentationFormat>Widescreen</PresentationFormat>
  <Paragraphs>205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Al Nile</vt:lpstr>
      <vt:lpstr>Aptos Mono</vt:lpstr>
      <vt:lpstr>Arial</vt:lpstr>
      <vt:lpstr>Calibri</vt:lpstr>
      <vt:lpstr>Cambria Math</vt:lpstr>
      <vt:lpstr>Neue Haas Grotesk Text Pro</vt:lpstr>
      <vt:lpstr>Segoe UI</vt:lpstr>
      <vt:lpstr>Wingdings</vt:lpstr>
      <vt:lpstr>OasisVTI</vt:lpstr>
      <vt:lpstr>Neural pathways related to alcoholism</vt:lpstr>
      <vt:lpstr>“Do people with alcoholism exhibit distinctive spatiotemporal patterns that are consistent enough across trials to allow a convolutional neural network to learn a reliable decision boundary between alcoholic and control groups using raw electrode signals alone?”</vt:lpstr>
      <vt:lpstr>background</vt:lpstr>
      <vt:lpstr>The Data </vt:lpstr>
      <vt:lpstr>Model architecture</vt:lpstr>
      <vt:lpstr>Learning rule</vt:lpstr>
      <vt:lpstr>Training results</vt:lpstr>
      <vt:lpstr>Evaluation</vt:lpstr>
      <vt:lpstr>Interpretation</vt:lpstr>
      <vt:lpstr>Limitations</vt:lpstr>
      <vt:lpstr>Future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Hasan, Shariq Yusuf</dc:creator>
  <cp:lastModifiedBy>Hasan, Shariq Yusuf</cp:lastModifiedBy>
  <cp:revision>2</cp:revision>
  <dcterms:created xsi:type="dcterms:W3CDTF">2026-04-29T21:06:39Z</dcterms:created>
  <dcterms:modified xsi:type="dcterms:W3CDTF">2026-05-08T01:58:01Z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0x0101005EB465D2B96B9D4CA7F3031A6B8448C7</vt:lpwstr>
  </property>
  <property fmtid="{D5CDD505-2E9C-101B-9397-08002B2CF9AE}" pid="3" name="MediaServiceImageTags">
    <vt:lpwstr/>
  </property>
</Properties>
</file>